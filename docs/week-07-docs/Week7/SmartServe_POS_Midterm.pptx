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Visual reference: D:/Downloads/Presentation 5.pdf. Adapted terracotta, sage, cream, serif headings, and repeated background typography.</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The final item combines duplicate inventory deductions, inconsistent records, and difficulty monitoring menu and ingredient availability.</a:t>
            </a:r>
            <a:endParaRPr/>
          </a:p>
        </p:txBody>
      </p:sp>
      <p:sp>
        <p:nvSpPr>
          <p:cNvPr id="40" name="Google Shape;4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a:t>
            </a:r>
            <a:endParaRPr/>
          </a:p>
        </p:txBody>
      </p:sp>
      <p:sp>
        <p:nvSpPr>
          <p:cNvPr id="56" name="Google Shape;5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a:t>
            </a:r>
            <a:endParaRPr/>
          </a:p>
        </p:txBody>
      </p:sp>
      <p:sp>
        <p:nvSpPr>
          <p:cNvPr id="73" name="Google Shape;7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This slide defines MVP scope. All listed payment methods are simulated, including QR. It does not claim that every scoped capability has completed verification.</a:t>
            </a:r>
            <a:endParaRPr/>
          </a:p>
        </p:txBody>
      </p:sp>
      <p:sp>
        <p:nvSpPr>
          <p:cNvPr id="84" name="Google Shape;8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Additional workflow source: docs/week-02/design-doc-v1.md. Failed payment or insufficient stock must not trigger inventory deduction.</a:t>
            </a:r>
            <a:endParaRPr/>
          </a:p>
        </p:txBody>
      </p:sp>
      <p:sp>
        <p:nvSpPr>
          <p:cNvPr id="96" name="Google Shape;9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Sources: docs/week-05/Project-architecture.md and docs/week-02/design-doc-v1.md. Stack and architecture from project documentation. Current isolated automated tests use SQLite and do not establish PostgreSQL verification.</a:t>
            </a:r>
            <a:endParaRPr/>
          </a:p>
        </p:txBody>
      </p:sp>
      <p:sp>
        <p:nvSpPr>
          <p:cNvPr id="122" name="Google Shape;12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34798e47e45a79c3_1_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h34798e47e45a79c3_1_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a:t>
            </a:r>
            <a:endParaRPr/>
          </a:p>
        </p:txBody>
      </p:sp>
      <p:sp>
        <p:nvSpPr>
          <p:cNvPr id="136" name="Google Shape;136;h34798e47e45a79c3_1_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34798e47e45a79c3_1_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h34798e47e45a79c3_1_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This slide defines MVP scope. All listed payment methods are simulated, including QR. It does not claim that every scoped capability has completed verification.</a:t>
            </a:r>
            <a:endParaRPr/>
          </a:p>
        </p:txBody>
      </p:sp>
      <p:sp>
        <p:nvSpPr>
          <p:cNvPr id="148" name="Google Shape;148;h34798e47e45a79c3_1_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34798e47e45a79c3_1_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h34798e47e45a79c3_1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This slide defines MVP scope. All listed payment methods are simulated, including QR. It does not claim that every scoped capability has completed verification.</a:t>
            </a:r>
            <a:endParaRPr/>
          </a:p>
        </p:txBody>
      </p:sp>
      <p:sp>
        <p:nvSpPr>
          <p:cNvPr id="159" name="Google Shape;159;h34798e47e45a79c3_1_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34798e47e45a79c3_1_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h34798e47e45a79c3_1_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This slide defines MVP scope. All listed payment methods are simulated, including QR. It does not claim that every scoped capability has completed verification.</a:t>
            </a:r>
            <a:endParaRPr/>
          </a:p>
        </p:txBody>
      </p:sp>
      <p:sp>
        <p:nvSpPr>
          <p:cNvPr id="170" name="Google Shape;170;h34798e47e45a79c3_1_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34798e47e45a79c3_1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h34798e47e45a79c3_1_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a:t>
            </a:r>
            <a:endParaRPr/>
          </a:p>
        </p:txBody>
      </p:sp>
      <p:sp>
        <p:nvSpPr>
          <p:cNvPr id="181" name="Google Shape;181;h34798e47e45a79c3_1_6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a:t>
            </a:r>
            <a:endParaRPr/>
          </a:p>
        </p:txBody>
      </p:sp>
      <p:sp>
        <p:nvSpPr>
          <p:cNvPr id="192" name="Google Shape;19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34798e47e45a79c3_1_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h34798e47e45a79c3_1_10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h34798e47e45a79c3_1_10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34798e47e45a79c3_1_1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h34798e47e45a79c3_1_1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user-supplied project description in this chat, October 21, 2026. Visual reference: D:/Downloads/Presentation 5.pdf. Adapted terracotta, sage, cream, serif headings, and repeated background typography.</a:t>
            </a:r>
            <a:endParaRPr/>
          </a:p>
        </p:txBody>
      </p:sp>
      <p:sp>
        <p:nvSpPr>
          <p:cNvPr id="219" name="Google Shape;219;h34798e47e45a79c3_1_1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martserve-pos-ycbj.onrender.com/" TargetMode="External"/><Relationship Id="rId4" Type="http://schemas.openxmlformats.org/officeDocument/2006/relationships/hyperlink" Target="https://github.com/CapstoneDesign-Fall2026-UlsanCollege/Team3_CapstoneDesig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github.com/CapstoneDesign-Fall2026-UlsanCollege/Team3_CapstoneDesign/issues/4" TargetMode="External"/><Relationship Id="rId4" Type="http://schemas.openxmlformats.org/officeDocument/2006/relationships/hyperlink" Target="https://github.com/CapstoneDesign-Fall2026-UlsanCollege/Team3_CapstoneDesign/issues/12" TargetMode="External"/><Relationship Id="rId5" Type="http://schemas.openxmlformats.org/officeDocument/2006/relationships/hyperlink" Target="https://github.com/CapstoneDesign-Fall2026-UlsanCollege/Team3_CapstoneDesign/issues/1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github.com/CapstoneDesign-Fall2026-UlsanCollege/Team3_CapstoneDesign/issues/20#issuecomment-6055077744" TargetMode="External"/><Relationship Id="rId4" Type="http://schemas.openxmlformats.org/officeDocument/2006/relationships/hyperlink" Target="https://github.com/CapstoneDesign-Fall2026-UlsanCollege/Team3_CapstoneDesign/issues/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com/CapstoneDesign-Fall2026-UlsanCollege/Team3_CapstoneDesign/issues/6#issuecomment-5692952866" TargetMode="External"/><Relationship Id="rId4" Type="http://schemas.openxmlformats.org/officeDocument/2006/relationships/hyperlink" Target="https://github.com/CapstoneDesign-Fall2026-UlsanCollege/Team3_CapstoneDesign/issues/5"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github.com/CapstoneDesign-Fall2026-UlsanCollege/Team3_CapstoneDesign/issues/6" TargetMode="External"/><Relationship Id="rId4" Type="http://schemas.openxmlformats.org/officeDocument/2006/relationships/hyperlink" Target="https://github.com/CapstoneDesign-Fall2026-UlsanCollege/Team3_CapstoneDesign/issues/6#issuecomment-569279806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CapstoneDesign-Fall2026-UlsanCollege/Team3_CapstoneDesign/issues/2" TargetMode="External"/><Relationship Id="rId4" Type="http://schemas.openxmlformats.org/officeDocument/2006/relationships/hyperlink" Target="https://github.com/CapstoneDesign-Fall2026-UlsanCollege/Team3_CapstoneDesign/issues/18#issuecomment-6031764498"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6346"/>
        </a:solidFill>
      </p:bgPr>
    </p:bg>
    <p:spTree>
      <p:nvGrpSpPr>
        <p:cNvPr id="30" name="Shape 30"/>
        <p:cNvGrpSpPr/>
        <p:nvPr/>
      </p:nvGrpSpPr>
      <p:grpSpPr>
        <a:xfrm>
          <a:off x="0" y="0"/>
          <a:ext cx="0" cy="0"/>
          <a:chOff x="0" y="0"/>
          <a:chExt cx="0" cy="0"/>
        </a:xfrm>
      </p:grpSpPr>
      <p:sp>
        <p:nvSpPr>
          <p:cNvPr id="31" name="Google Shape;31;p8"/>
          <p:cNvSpPr/>
          <p:nvPr/>
        </p:nvSpPr>
        <p:spPr>
          <a:xfrm>
            <a:off x="571500" y="173550"/>
            <a:ext cx="11049000" cy="10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7875">
                <a:solidFill>
                  <a:srgbClr val="C87356"/>
                </a:solidFill>
                <a:latin typeface="Arial"/>
                <a:ea typeface="Arial"/>
                <a:cs typeface="Arial"/>
                <a:sym typeface="Arial"/>
              </a:rPr>
              <a:t>SMARTSERVE</a:t>
            </a:r>
            <a:endParaRPr/>
          </a:p>
        </p:txBody>
      </p:sp>
      <p:sp>
        <p:nvSpPr>
          <p:cNvPr id="32" name="Google Shape;32;p8"/>
          <p:cNvSpPr/>
          <p:nvPr/>
        </p:nvSpPr>
        <p:spPr>
          <a:xfrm>
            <a:off x="410125" y="2998150"/>
            <a:ext cx="11049000" cy="10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7875">
                <a:solidFill>
                  <a:srgbClr val="C87356"/>
                </a:solidFill>
                <a:latin typeface="Arial"/>
                <a:ea typeface="Arial"/>
                <a:cs typeface="Arial"/>
                <a:sym typeface="Arial"/>
              </a:rPr>
              <a:t>SMARTSERVE</a:t>
            </a:r>
            <a:endParaRPr/>
          </a:p>
        </p:txBody>
      </p:sp>
      <p:sp>
        <p:nvSpPr>
          <p:cNvPr id="33" name="Google Shape;33;p8"/>
          <p:cNvSpPr/>
          <p:nvPr/>
        </p:nvSpPr>
        <p:spPr>
          <a:xfrm>
            <a:off x="490800" y="1132600"/>
            <a:ext cx="11049000" cy="209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6750">
                <a:solidFill>
                  <a:srgbClr val="FFFFFF"/>
                </a:solidFill>
                <a:latin typeface="Arial"/>
                <a:ea typeface="Arial"/>
                <a:cs typeface="Arial"/>
                <a:sym typeface="Arial"/>
              </a:rPr>
              <a:t>SMART-SERVE</a:t>
            </a:r>
            <a:endParaRPr/>
          </a:p>
          <a:p>
            <a:pPr indent="0" lvl="0" marL="0" marR="0" rtl="0" algn="l">
              <a:spcBef>
                <a:spcPts val="0"/>
              </a:spcBef>
              <a:spcAft>
                <a:spcPts val="0"/>
              </a:spcAft>
              <a:buNone/>
            </a:pPr>
            <a:r>
              <a:rPr b="0" lang="en-US" sz="6750">
                <a:solidFill>
                  <a:srgbClr val="FFFFFF"/>
                </a:solidFill>
                <a:latin typeface="Arial"/>
                <a:ea typeface="Arial"/>
                <a:cs typeface="Arial"/>
                <a:sym typeface="Arial"/>
              </a:rPr>
              <a:t>POS SYSTEM</a:t>
            </a:r>
            <a:endParaRPr/>
          </a:p>
        </p:txBody>
      </p:sp>
      <p:sp>
        <p:nvSpPr>
          <p:cNvPr id="34" name="Google Shape;34;p8"/>
          <p:cNvSpPr/>
          <p:nvPr/>
        </p:nvSpPr>
        <p:spPr>
          <a:xfrm>
            <a:off x="571500" y="5098275"/>
            <a:ext cx="85725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FFFFFF"/>
                </a:solidFill>
                <a:latin typeface="Arial"/>
                <a:ea typeface="Arial"/>
                <a:cs typeface="Arial"/>
                <a:sym typeface="Arial"/>
              </a:rPr>
              <a:t>Team 3</a:t>
            </a:r>
            <a:endParaRPr b="0" sz="1575">
              <a:solidFill>
                <a:srgbClr val="FFFFFF"/>
              </a:solidFill>
              <a:latin typeface="Arial"/>
              <a:ea typeface="Arial"/>
              <a:cs typeface="Arial"/>
              <a:sym typeface="Arial"/>
            </a:endParaRPr>
          </a:p>
          <a:p>
            <a:pPr indent="0" lvl="0" marL="0" marR="0" rtl="0" algn="l">
              <a:spcBef>
                <a:spcPts val="0"/>
              </a:spcBef>
              <a:spcAft>
                <a:spcPts val="0"/>
              </a:spcAft>
              <a:buNone/>
            </a:pPr>
            <a:r>
              <a:rPr lang="en-US" sz="1575">
                <a:solidFill>
                  <a:srgbClr val="FFFFFF"/>
                </a:solidFill>
              </a:rPr>
              <a:t>Lama Muskan(2412063)</a:t>
            </a:r>
            <a:br>
              <a:rPr lang="en-US" sz="1575">
                <a:solidFill>
                  <a:srgbClr val="FFFFFF"/>
                </a:solidFill>
              </a:rPr>
            </a:br>
            <a:r>
              <a:rPr lang="en-US" sz="1575">
                <a:solidFill>
                  <a:srgbClr val="FFFFFF"/>
                </a:solidFill>
              </a:rPr>
              <a:t>Hyolmo sherap choephel (2412050)</a:t>
            </a:r>
            <a:br>
              <a:rPr lang="en-US" sz="1575">
                <a:solidFill>
                  <a:srgbClr val="FFFFFF"/>
                </a:solidFill>
              </a:rPr>
            </a:br>
            <a:r>
              <a:rPr lang="en-US" sz="1575">
                <a:solidFill>
                  <a:srgbClr val="FFFFFF"/>
                </a:solidFill>
              </a:rPr>
              <a:t>Majhi sujita(2412054)</a:t>
            </a:r>
            <a:br>
              <a:rPr lang="en-US" sz="1575">
                <a:solidFill>
                  <a:srgbClr val="FFFFFF"/>
                </a:solidFill>
              </a:rPr>
            </a:br>
            <a:r>
              <a:rPr lang="en-US" sz="1575">
                <a:solidFill>
                  <a:srgbClr val="FFFFFF"/>
                </a:solidFill>
              </a:rPr>
              <a:t>Ualson tamang</a:t>
            </a:r>
            <a:br>
              <a:rPr lang="en-US" sz="1575">
                <a:solidFill>
                  <a:srgbClr val="FFFFFF"/>
                </a:solidFill>
              </a:rPr>
            </a:br>
            <a:r>
              <a:rPr lang="en-US" sz="1575">
                <a:solidFill>
                  <a:srgbClr val="FFFFFF"/>
                </a:solidFill>
              </a:rPr>
              <a:t>Shreya rai</a:t>
            </a:r>
            <a:endParaRPr sz="1575">
              <a:solidFill>
                <a:srgbClr val="FFFFFF"/>
              </a:solidFill>
            </a:endParaRPr>
          </a:p>
        </p:txBody>
      </p:sp>
      <p:sp>
        <p:nvSpPr>
          <p:cNvPr id="35" name="Google Shape;35;p8"/>
          <p:cNvSpPr txBox="1"/>
          <p:nvPr/>
        </p:nvSpPr>
        <p:spPr>
          <a:xfrm>
            <a:off x="9601200" y="6419213"/>
            <a:ext cx="3181200" cy="2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u="sng">
                <a:solidFill>
                  <a:schemeClr val="lt1"/>
                </a:solidFill>
                <a:hlinkClick r:id="rId3">
                  <a:extLst>
                    <a:ext uri="{A12FA001-AC4F-418D-AE19-62706E023703}">
                      <ahyp:hlinkClr val="tx"/>
                    </a:ext>
                  </a:extLst>
                </a:hlinkClick>
              </a:rPr>
              <a:t>LIVE SITE</a:t>
            </a:r>
            <a:endParaRPr sz="1700">
              <a:solidFill>
                <a:schemeClr val="lt1"/>
              </a:solidFill>
            </a:endParaRPr>
          </a:p>
        </p:txBody>
      </p:sp>
      <p:sp>
        <p:nvSpPr>
          <p:cNvPr id="36" name="Google Shape;36;p8"/>
          <p:cNvSpPr txBox="1"/>
          <p:nvPr/>
        </p:nvSpPr>
        <p:spPr>
          <a:xfrm>
            <a:off x="10926700" y="6419225"/>
            <a:ext cx="16482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u="sng">
                <a:solidFill>
                  <a:schemeClr val="lt1"/>
                </a:solidFill>
                <a:hlinkClick r:id="rId4">
                  <a:extLst>
                    <a:ext uri="{A12FA001-AC4F-418D-AE19-62706E023703}">
                      <ahyp:hlinkClr val="tx"/>
                    </a:ext>
                  </a:extLst>
                </a:hlinkClick>
              </a:rPr>
              <a:t>Github link</a:t>
            </a:r>
            <a:endParaRPr sz="17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41" name="Shape 41"/>
        <p:cNvGrpSpPr/>
        <p:nvPr/>
      </p:nvGrpSpPr>
      <p:grpSpPr>
        <a:xfrm>
          <a:off x="0" y="0"/>
          <a:ext cx="0" cy="0"/>
          <a:chOff x="0" y="0"/>
          <a:chExt cx="0" cy="0"/>
        </a:xfrm>
      </p:grpSpPr>
      <p:sp>
        <p:nvSpPr>
          <p:cNvPr id="42" name="Google Shape;42;p9"/>
          <p:cNvSpPr/>
          <p:nvPr/>
        </p:nvSpPr>
        <p:spPr>
          <a:xfrm>
            <a:off x="628650" y="457200"/>
            <a:ext cx="10953750" cy="895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450">
                <a:solidFill>
                  <a:srgbClr val="839263"/>
                </a:solidFill>
              </a:rPr>
              <a:t>SMART-SERVE BACKGROUND</a:t>
            </a:r>
            <a:endParaRPr sz="3100"/>
          </a:p>
        </p:txBody>
      </p:sp>
      <p:sp>
        <p:nvSpPr>
          <p:cNvPr id="43" name="Google Shape;43;p9"/>
          <p:cNvSpPr/>
          <p:nvPr/>
        </p:nvSpPr>
        <p:spPr>
          <a:xfrm>
            <a:off x="666750" y="1648213"/>
            <a:ext cx="49530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BD6346"/>
                </a:solidFill>
              </a:rPr>
              <a:t>Manual order and billing errors </a:t>
            </a:r>
            <a:endParaRPr sz="1700"/>
          </a:p>
        </p:txBody>
      </p:sp>
      <p:sp>
        <p:nvSpPr>
          <p:cNvPr id="44" name="Google Shape;44;p9"/>
          <p:cNvSpPr/>
          <p:nvPr/>
        </p:nvSpPr>
        <p:spPr>
          <a:xfrm>
            <a:off x="666750" y="2277175"/>
            <a:ext cx="4953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25">
                <a:solidFill>
                  <a:srgbClr val="553D32"/>
                </a:solidFill>
              </a:rPr>
              <a:t>Recording orders and calculating bills manually can lead to mistakes. </a:t>
            </a:r>
            <a:endParaRPr sz="1500"/>
          </a:p>
        </p:txBody>
      </p:sp>
      <p:sp>
        <p:nvSpPr>
          <p:cNvPr id="45" name="Google Shape;45;p9"/>
          <p:cNvSpPr/>
          <p:nvPr/>
        </p:nvSpPr>
        <p:spPr>
          <a:xfrm>
            <a:off x="6572250" y="1648213"/>
            <a:ext cx="49530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BD6346"/>
                </a:solidFill>
              </a:rPr>
              <a:t>Difficulty tracking ingredient stock </a:t>
            </a:r>
            <a:endParaRPr sz="1700"/>
          </a:p>
        </p:txBody>
      </p:sp>
      <p:sp>
        <p:nvSpPr>
          <p:cNvPr id="46" name="Google Shape;46;p9"/>
          <p:cNvSpPr/>
          <p:nvPr/>
        </p:nvSpPr>
        <p:spPr>
          <a:xfrm>
            <a:off x="6572250" y="2277175"/>
            <a:ext cx="4953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25">
                <a:solidFill>
                  <a:srgbClr val="553D32"/>
                </a:solidFill>
              </a:rPr>
              <a:t>Café staff may not know how much stock remains after each sale. </a:t>
            </a:r>
            <a:endParaRPr sz="1500"/>
          </a:p>
        </p:txBody>
      </p:sp>
      <p:sp>
        <p:nvSpPr>
          <p:cNvPr id="47" name="Google Shape;47;p9"/>
          <p:cNvSpPr/>
          <p:nvPr/>
        </p:nvSpPr>
        <p:spPr>
          <a:xfrm>
            <a:off x="666750" y="3544000"/>
            <a:ext cx="49530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BD6346"/>
                </a:solidFill>
              </a:rPr>
              <a:t>Unclear daily sales records </a:t>
            </a:r>
            <a:endParaRPr sz="1700"/>
          </a:p>
        </p:txBody>
      </p:sp>
      <p:sp>
        <p:nvSpPr>
          <p:cNvPr id="48" name="Google Shape;48;p9"/>
          <p:cNvSpPr/>
          <p:nvPr/>
        </p:nvSpPr>
        <p:spPr>
          <a:xfrm>
            <a:off x="666750" y="4209150"/>
            <a:ext cx="4953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25">
                <a:solidFill>
                  <a:srgbClr val="553D32"/>
                </a:solidFill>
              </a:rPr>
              <a:t>Café owners struggle to track completed orders and daily revenue. </a:t>
            </a:r>
            <a:endParaRPr sz="1500"/>
          </a:p>
        </p:txBody>
      </p:sp>
      <p:sp>
        <p:nvSpPr>
          <p:cNvPr id="49" name="Google Shape;49;p9"/>
          <p:cNvSpPr/>
          <p:nvPr/>
        </p:nvSpPr>
        <p:spPr>
          <a:xfrm>
            <a:off x="6572250" y="3544000"/>
            <a:ext cx="49530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BD6346"/>
                </a:solidFill>
              </a:rPr>
              <a:t>Disconnected café operations </a:t>
            </a:r>
            <a:endParaRPr sz="1700"/>
          </a:p>
        </p:txBody>
      </p:sp>
      <p:sp>
        <p:nvSpPr>
          <p:cNvPr id="50" name="Google Shape;50;p9"/>
          <p:cNvSpPr/>
          <p:nvPr/>
        </p:nvSpPr>
        <p:spPr>
          <a:xfrm>
            <a:off x="6572250" y="4209150"/>
            <a:ext cx="4953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25">
                <a:solidFill>
                  <a:srgbClr val="553D32"/>
                </a:solidFill>
              </a:rPr>
              <a:t>Managing orders, payments, and inventory separately creates extra work and inconsistent records. </a:t>
            </a:r>
            <a:endParaRPr sz="1825">
              <a:solidFill>
                <a:srgbClr val="553D32"/>
              </a:solidFill>
            </a:endParaRPr>
          </a:p>
          <a:p>
            <a:pPr indent="0" lvl="0" marL="0" marR="0" rtl="0" algn="l">
              <a:spcBef>
                <a:spcPts val="0"/>
              </a:spcBef>
              <a:spcAft>
                <a:spcPts val="0"/>
              </a:spcAft>
              <a:buNone/>
            </a:pPr>
            <a:r>
              <a:t/>
            </a:r>
            <a:endParaRPr sz="1825">
              <a:solidFill>
                <a:srgbClr val="553D32"/>
              </a:solidFill>
            </a:endParaRPr>
          </a:p>
        </p:txBody>
      </p:sp>
      <p:sp>
        <p:nvSpPr>
          <p:cNvPr id="51" name="Google Shape;51;p9"/>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52" name="Google Shape;52;p9"/>
          <p:cNvSpPr/>
          <p:nvPr/>
        </p:nvSpPr>
        <p:spPr>
          <a:xfrm>
            <a:off x="11239500" y="6486525"/>
            <a:ext cx="42862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0</a:t>
            </a:r>
            <a:r>
              <a:rPr lang="en-US" sz="900">
                <a:solidFill>
                  <a:srgbClr val="BD6346"/>
                </a:solidFill>
              </a:rPr>
              <a:t>2</a:t>
            </a:r>
            <a:endParaRPr sz="900">
              <a:solidFill>
                <a:srgbClr val="BD6346"/>
              </a:solidFill>
            </a:endParaRPr>
          </a:p>
          <a:p>
            <a:pPr indent="0" lvl="0" marL="0" marR="0" rtl="0" algn="l">
              <a:spcBef>
                <a:spcPts val="0"/>
              </a:spcBef>
              <a:spcAft>
                <a:spcPts val="0"/>
              </a:spcAft>
              <a:buNone/>
            </a:pPr>
            <a:r>
              <a:t/>
            </a:r>
            <a:endParaRPr sz="900">
              <a:solidFill>
                <a:srgbClr val="BD634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57" name="Shape 57"/>
        <p:cNvGrpSpPr/>
        <p:nvPr/>
      </p:nvGrpSpPr>
      <p:grpSpPr>
        <a:xfrm>
          <a:off x="0" y="0"/>
          <a:ext cx="0" cy="0"/>
          <a:chOff x="0" y="0"/>
          <a:chExt cx="0" cy="0"/>
        </a:xfrm>
      </p:grpSpPr>
      <p:sp>
        <p:nvSpPr>
          <p:cNvPr id="58" name="Google Shape;58;p10"/>
          <p:cNvSpPr/>
          <p:nvPr/>
        </p:nvSpPr>
        <p:spPr>
          <a:xfrm>
            <a:off x="628650" y="457200"/>
            <a:ext cx="10953750" cy="895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450">
                <a:solidFill>
                  <a:srgbClr val="839263"/>
                </a:solidFill>
              </a:rPr>
              <a:t>INTENDED </a:t>
            </a:r>
            <a:r>
              <a:rPr b="0" lang="en-US" sz="4450">
                <a:solidFill>
                  <a:srgbClr val="839263"/>
                </a:solidFill>
                <a:latin typeface="Arial"/>
                <a:ea typeface="Arial"/>
                <a:cs typeface="Arial"/>
                <a:sym typeface="Arial"/>
              </a:rPr>
              <a:t>USERS</a:t>
            </a:r>
            <a:endParaRPr sz="2100"/>
          </a:p>
        </p:txBody>
      </p:sp>
      <p:sp>
        <p:nvSpPr>
          <p:cNvPr id="59" name="Google Shape;59;p10"/>
          <p:cNvSpPr/>
          <p:nvPr/>
        </p:nvSpPr>
        <p:spPr>
          <a:xfrm>
            <a:off x="581025" y="1251675"/>
            <a:ext cx="3345300" cy="14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36">
                <a:solidFill>
                  <a:srgbClr val="E6D6D0"/>
                </a:solidFill>
                <a:latin typeface="Arial"/>
                <a:ea typeface="Arial"/>
                <a:cs typeface="Arial"/>
                <a:sym typeface="Arial"/>
              </a:rPr>
              <a:t>01</a:t>
            </a:r>
            <a:endParaRPr sz="1405"/>
          </a:p>
        </p:txBody>
      </p:sp>
      <p:sp>
        <p:nvSpPr>
          <p:cNvPr id="60" name="Google Shape;60;p10"/>
          <p:cNvSpPr/>
          <p:nvPr/>
        </p:nvSpPr>
        <p:spPr>
          <a:xfrm>
            <a:off x="62900" y="3287463"/>
            <a:ext cx="3633600" cy="65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15">
                <a:solidFill>
                  <a:srgbClr val="BD6346"/>
                </a:solidFill>
                <a:latin typeface="Arial"/>
                <a:ea typeface="Arial"/>
                <a:cs typeface="Arial"/>
                <a:sym typeface="Arial"/>
              </a:rPr>
              <a:t>CAFÉ OWNERS</a:t>
            </a:r>
            <a:endParaRPr sz="2104"/>
          </a:p>
        </p:txBody>
      </p:sp>
      <p:sp>
        <p:nvSpPr>
          <p:cNvPr id="61" name="Google Shape;61;p10"/>
          <p:cNvSpPr/>
          <p:nvPr/>
        </p:nvSpPr>
        <p:spPr>
          <a:xfrm>
            <a:off x="62900" y="4192131"/>
            <a:ext cx="3582600" cy="1715700"/>
          </a:xfrm>
          <a:prstGeom prst="rect">
            <a:avLst/>
          </a:prstGeom>
          <a:noFill/>
          <a:ln>
            <a:noFill/>
          </a:ln>
        </p:spPr>
        <p:txBody>
          <a:bodyPr anchorCtr="0" anchor="t" bIns="0" lIns="0" spcFirstLastPara="1" rIns="0" wrap="square" tIns="0">
            <a:noAutofit/>
          </a:bodyPr>
          <a:lstStyle/>
          <a:p>
            <a:pPr indent="-346307" lvl="0" marL="457200" marR="0" rtl="0" algn="l">
              <a:spcBef>
                <a:spcPts val="0"/>
              </a:spcBef>
              <a:spcAft>
                <a:spcPts val="0"/>
              </a:spcAft>
              <a:buClr>
                <a:srgbClr val="553D32"/>
              </a:buClr>
              <a:buSzPts val="1854"/>
              <a:buFont typeface="Arial"/>
              <a:buChar char="●"/>
            </a:pPr>
            <a:r>
              <a:rPr b="0" lang="en-US" sz="1854">
                <a:solidFill>
                  <a:srgbClr val="553D32"/>
                </a:solidFill>
                <a:latin typeface="Arial"/>
                <a:ea typeface="Arial"/>
                <a:cs typeface="Arial"/>
                <a:sym typeface="Arial"/>
              </a:rPr>
              <a:t>Monitor sales</a:t>
            </a:r>
            <a:endParaRPr sz="1854">
              <a:solidFill>
                <a:srgbClr val="553D32"/>
              </a:solidFill>
            </a:endParaRPr>
          </a:p>
          <a:p>
            <a:pPr indent="-346307" lvl="0" marL="457200" marR="0" rtl="0" algn="l">
              <a:spcBef>
                <a:spcPts val="0"/>
              </a:spcBef>
              <a:spcAft>
                <a:spcPts val="0"/>
              </a:spcAft>
              <a:buClr>
                <a:srgbClr val="553D32"/>
              </a:buClr>
              <a:buSzPts val="1854"/>
              <a:buFont typeface="Arial"/>
              <a:buChar char="●"/>
            </a:pPr>
            <a:r>
              <a:rPr lang="en-US" sz="1854">
                <a:solidFill>
                  <a:srgbClr val="553D32"/>
                </a:solidFill>
              </a:rPr>
              <a:t>M</a:t>
            </a:r>
            <a:r>
              <a:rPr b="0" lang="en-US" sz="1854">
                <a:solidFill>
                  <a:srgbClr val="553D32"/>
                </a:solidFill>
                <a:latin typeface="Arial"/>
                <a:ea typeface="Arial"/>
                <a:cs typeface="Arial"/>
                <a:sym typeface="Arial"/>
              </a:rPr>
              <a:t>anage menu</a:t>
            </a:r>
            <a:r>
              <a:rPr lang="en-US" sz="1504"/>
              <a:t> </a:t>
            </a:r>
            <a:r>
              <a:rPr lang="en-US" sz="1854">
                <a:solidFill>
                  <a:srgbClr val="553D32"/>
                </a:solidFill>
              </a:rPr>
              <a:t>I</a:t>
            </a:r>
            <a:r>
              <a:rPr b="0" lang="en-US" sz="1854">
                <a:solidFill>
                  <a:srgbClr val="553D32"/>
                </a:solidFill>
                <a:latin typeface="Arial"/>
                <a:ea typeface="Arial"/>
                <a:cs typeface="Arial"/>
                <a:sym typeface="Arial"/>
              </a:rPr>
              <a:t>tems</a:t>
            </a:r>
            <a:endParaRPr sz="1854">
              <a:solidFill>
                <a:srgbClr val="553D32"/>
              </a:solidFill>
            </a:endParaRPr>
          </a:p>
          <a:p>
            <a:pPr indent="-346307" lvl="0" marL="457200" marR="0" rtl="0" algn="l">
              <a:spcBef>
                <a:spcPts val="0"/>
              </a:spcBef>
              <a:spcAft>
                <a:spcPts val="0"/>
              </a:spcAft>
              <a:buClr>
                <a:srgbClr val="553D32"/>
              </a:buClr>
              <a:buSzPts val="1854"/>
              <a:buFont typeface="Arial"/>
              <a:buChar char="●"/>
            </a:pPr>
            <a:r>
              <a:rPr lang="en-US" sz="1854">
                <a:solidFill>
                  <a:srgbClr val="553D32"/>
                </a:solidFill>
              </a:rPr>
              <a:t>C</a:t>
            </a:r>
            <a:r>
              <a:rPr b="0" lang="en-US" sz="1854">
                <a:solidFill>
                  <a:srgbClr val="553D32"/>
                </a:solidFill>
                <a:latin typeface="Arial"/>
                <a:ea typeface="Arial"/>
                <a:cs typeface="Arial"/>
                <a:sym typeface="Arial"/>
              </a:rPr>
              <a:t>heck ingredient stock.</a:t>
            </a:r>
            <a:endParaRPr sz="1504"/>
          </a:p>
        </p:txBody>
      </p:sp>
      <p:sp>
        <p:nvSpPr>
          <p:cNvPr id="62" name="Google Shape;62;p10"/>
          <p:cNvSpPr/>
          <p:nvPr/>
        </p:nvSpPr>
        <p:spPr>
          <a:xfrm>
            <a:off x="4451900" y="1251675"/>
            <a:ext cx="3345300" cy="14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36">
                <a:solidFill>
                  <a:srgbClr val="E6D6D0"/>
                </a:solidFill>
                <a:latin typeface="Arial"/>
                <a:ea typeface="Arial"/>
                <a:cs typeface="Arial"/>
                <a:sym typeface="Arial"/>
              </a:rPr>
              <a:t>02</a:t>
            </a:r>
            <a:endParaRPr sz="1405"/>
          </a:p>
        </p:txBody>
      </p:sp>
      <p:sp>
        <p:nvSpPr>
          <p:cNvPr id="63" name="Google Shape;63;p10"/>
          <p:cNvSpPr/>
          <p:nvPr/>
        </p:nvSpPr>
        <p:spPr>
          <a:xfrm>
            <a:off x="4208248" y="3287463"/>
            <a:ext cx="3633600" cy="65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BD6346"/>
                </a:solidFill>
                <a:latin typeface="Arial"/>
                <a:ea typeface="Arial"/>
                <a:cs typeface="Arial"/>
                <a:sym typeface="Arial"/>
              </a:rPr>
              <a:t>CASHIERS</a:t>
            </a:r>
            <a:endParaRPr sz="2600"/>
          </a:p>
        </p:txBody>
      </p:sp>
      <p:sp>
        <p:nvSpPr>
          <p:cNvPr id="64" name="Google Shape;64;p10"/>
          <p:cNvSpPr/>
          <p:nvPr/>
        </p:nvSpPr>
        <p:spPr>
          <a:xfrm>
            <a:off x="4208248" y="4192131"/>
            <a:ext cx="3582600" cy="1715700"/>
          </a:xfrm>
          <a:prstGeom prst="rect">
            <a:avLst/>
          </a:prstGeom>
          <a:noFill/>
          <a:ln>
            <a:noFill/>
          </a:ln>
        </p:spPr>
        <p:txBody>
          <a:bodyPr anchorCtr="0" anchor="t" bIns="0" lIns="0" spcFirstLastPara="1" rIns="0" wrap="square" tIns="0">
            <a:noAutofit/>
          </a:bodyPr>
          <a:lstStyle/>
          <a:p>
            <a:pPr indent="-346307" lvl="0" marL="457200" marR="0" rtl="0" algn="l">
              <a:spcBef>
                <a:spcPts val="0"/>
              </a:spcBef>
              <a:spcAft>
                <a:spcPts val="0"/>
              </a:spcAft>
              <a:buClr>
                <a:srgbClr val="553D32"/>
              </a:buClr>
              <a:buSzPts val="1854"/>
              <a:buFont typeface="Arial"/>
              <a:buChar char="●"/>
            </a:pPr>
            <a:r>
              <a:rPr b="0" lang="en-US" sz="1854">
                <a:solidFill>
                  <a:srgbClr val="553D32"/>
                </a:solidFill>
                <a:latin typeface="Arial"/>
                <a:ea typeface="Arial"/>
                <a:cs typeface="Arial"/>
                <a:sym typeface="Arial"/>
              </a:rPr>
              <a:t>Take customer orders</a:t>
            </a:r>
            <a:endParaRPr sz="1854">
              <a:solidFill>
                <a:srgbClr val="553D32"/>
              </a:solidFill>
            </a:endParaRPr>
          </a:p>
          <a:p>
            <a:pPr indent="-346307" lvl="0" marL="457200" marR="0" rtl="0" algn="l">
              <a:spcBef>
                <a:spcPts val="0"/>
              </a:spcBef>
              <a:spcAft>
                <a:spcPts val="0"/>
              </a:spcAft>
              <a:buClr>
                <a:srgbClr val="553D32"/>
              </a:buClr>
              <a:buSzPts val="1854"/>
              <a:buFont typeface="Arial"/>
              <a:buChar char="●"/>
            </a:pPr>
            <a:r>
              <a:rPr lang="en-US" sz="1854">
                <a:solidFill>
                  <a:srgbClr val="553D32"/>
                </a:solidFill>
              </a:rPr>
              <a:t>C</a:t>
            </a:r>
            <a:r>
              <a:rPr b="0" lang="en-US" sz="1854">
                <a:solidFill>
                  <a:srgbClr val="553D32"/>
                </a:solidFill>
                <a:latin typeface="Arial"/>
                <a:ea typeface="Arial"/>
                <a:cs typeface="Arial"/>
                <a:sym typeface="Arial"/>
              </a:rPr>
              <a:t>alculate totals price</a:t>
            </a:r>
            <a:endParaRPr sz="1854">
              <a:solidFill>
                <a:srgbClr val="553D32"/>
              </a:solidFill>
            </a:endParaRPr>
          </a:p>
          <a:p>
            <a:pPr indent="-346307" lvl="0" marL="457200" marR="0" rtl="0" algn="l">
              <a:spcBef>
                <a:spcPts val="0"/>
              </a:spcBef>
              <a:spcAft>
                <a:spcPts val="0"/>
              </a:spcAft>
              <a:buClr>
                <a:srgbClr val="553D32"/>
              </a:buClr>
              <a:buSzPts val="1854"/>
              <a:buFont typeface="Arial"/>
              <a:buChar char="●"/>
            </a:pPr>
            <a:r>
              <a:rPr lang="en-US" sz="1854">
                <a:solidFill>
                  <a:srgbClr val="553D32"/>
                </a:solidFill>
              </a:rPr>
              <a:t>P</a:t>
            </a:r>
            <a:r>
              <a:rPr b="0" lang="en-US" sz="1854">
                <a:solidFill>
                  <a:srgbClr val="553D32"/>
                </a:solidFill>
                <a:latin typeface="Arial"/>
                <a:ea typeface="Arial"/>
                <a:cs typeface="Arial"/>
                <a:sym typeface="Arial"/>
              </a:rPr>
              <a:t>rocess payments.</a:t>
            </a:r>
            <a:endParaRPr sz="1504"/>
          </a:p>
        </p:txBody>
      </p:sp>
      <p:sp>
        <p:nvSpPr>
          <p:cNvPr id="65" name="Google Shape;65;p10"/>
          <p:cNvSpPr/>
          <p:nvPr/>
        </p:nvSpPr>
        <p:spPr>
          <a:xfrm>
            <a:off x="8322775" y="1251675"/>
            <a:ext cx="3345300" cy="14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36">
                <a:solidFill>
                  <a:srgbClr val="E6D6D0"/>
                </a:solidFill>
                <a:latin typeface="Arial"/>
                <a:ea typeface="Arial"/>
                <a:cs typeface="Arial"/>
                <a:sym typeface="Arial"/>
              </a:rPr>
              <a:t>03</a:t>
            </a:r>
            <a:endParaRPr sz="1405"/>
          </a:p>
        </p:txBody>
      </p:sp>
      <p:sp>
        <p:nvSpPr>
          <p:cNvPr id="66" name="Google Shape;66;p10"/>
          <p:cNvSpPr/>
          <p:nvPr/>
        </p:nvSpPr>
        <p:spPr>
          <a:xfrm>
            <a:off x="8353596" y="3287463"/>
            <a:ext cx="3633600" cy="65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BD6346"/>
                </a:solidFill>
                <a:latin typeface="Arial"/>
                <a:ea typeface="Arial"/>
                <a:cs typeface="Arial"/>
                <a:sym typeface="Arial"/>
              </a:rPr>
              <a:t>CAFÉ STAFF</a:t>
            </a:r>
            <a:endParaRPr sz="2600"/>
          </a:p>
        </p:txBody>
      </p:sp>
      <p:sp>
        <p:nvSpPr>
          <p:cNvPr id="67" name="Google Shape;67;p10"/>
          <p:cNvSpPr/>
          <p:nvPr/>
        </p:nvSpPr>
        <p:spPr>
          <a:xfrm>
            <a:off x="8353596" y="4192131"/>
            <a:ext cx="3582600" cy="1715700"/>
          </a:xfrm>
          <a:prstGeom prst="rect">
            <a:avLst/>
          </a:prstGeom>
          <a:noFill/>
          <a:ln>
            <a:noFill/>
          </a:ln>
        </p:spPr>
        <p:txBody>
          <a:bodyPr anchorCtr="0" anchor="t" bIns="0" lIns="0" spcFirstLastPara="1" rIns="0" wrap="square" tIns="0">
            <a:noAutofit/>
          </a:bodyPr>
          <a:lstStyle/>
          <a:p>
            <a:pPr indent="-346307" lvl="0" marL="457200" marR="0" rtl="0" algn="l">
              <a:spcBef>
                <a:spcPts val="0"/>
              </a:spcBef>
              <a:spcAft>
                <a:spcPts val="0"/>
              </a:spcAft>
              <a:buClr>
                <a:srgbClr val="553D32"/>
              </a:buClr>
              <a:buSzPts val="1854"/>
              <a:buFont typeface="Arial"/>
              <a:buChar char="●"/>
            </a:pPr>
            <a:r>
              <a:rPr b="0" lang="en-US" sz="1854">
                <a:solidFill>
                  <a:srgbClr val="553D32"/>
                </a:solidFill>
                <a:latin typeface="Arial"/>
                <a:ea typeface="Arial"/>
                <a:cs typeface="Arial"/>
                <a:sym typeface="Arial"/>
              </a:rPr>
              <a:t>Track ingredient usag</a:t>
            </a:r>
            <a:r>
              <a:rPr lang="en-US" sz="1854">
                <a:solidFill>
                  <a:srgbClr val="553D32"/>
                </a:solidFill>
              </a:rPr>
              <a:t>e</a:t>
            </a:r>
            <a:endParaRPr sz="1504"/>
          </a:p>
          <a:p>
            <a:pPr indent="-346307" lvl="0" marL="457200" marR="0" rtl="0" algn="l">
              <a:spcBef>
                <a:spcPts val="0"/>
              </a:spcBef>
              <a:spcAft>
                <a:spcPts val="0"/>
              </a:spcAft>
              <a:buClr>
                <a:srgbClr val="553D32"/>
              </a:buClr>
              <a:buSzPts val="1854"/>
              <a:buFont typeface="Arial"/>
              <a:buChar char="●"/>
            </a:pPr>
            <a:r>
              <a:rPr lang="en-US" sz="1854">
                <a:solidFill>
                  <a:srgbClr val="553D32"/>
                </a:solidFill>
              </a:rPr>
              <a:t>Check a</a:t>
            </a:r>
            <a:r>
              <a:rPr b="0" lang="en-US" sz="1854">
                <a:solidFill>
                  <a:srgbClr val="553D32"/>
                </a:solidFill>
                <a:latin typeface="Arial"/>
                <a:ea typeface="Arial"/>
                <a:cs typeface="Arial"/>
                <a:sym typeface="Arial"/>
              </a:rPr>
              <a:t>vailable stock during service.</a:t>
            </a:r>
            <a:endParaRPr sz="1504"/>
          </a:p>
        </p:txBody>
      </p:sp>
      <p:sp>
        <p:nvSpPr>
          <p:cNvPr id="68" name="Google Shape;68;p10"/>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69" name="Google Shape;69;p10"/>
          <p:cNvSpPr/>
          <p:nvPr/>
        </p:nvSpPr>
        <p:spPr>
          <a:xfrm>
            <a:off x="11239500"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rgbClr val="BD6346"/>
                </a:solidFill>
              </a:rPr>
              <a:t>03</a:t>
            </a:r>
            <a:endParaRPr sz="900">
              <a:solidFill>
                <a:srgbClr val="BD6346"/>
              </a:solidFill>
            </a:endParaRPr>
          </a:p>
          <a:p>
            <a:pPr indent="0" lvl="0" marL="0" marR="0" rtl="0" algn="l">
              <a:spcBef>
                <a:spcPts val="0"/>
              </a:spcBef>
              <a:spcAft>
                <a:spcPts val="0"/>
              </a:spcAft>
              <a:buNone/>
            </a:pPr>
            <a:r>
              <a:t/>
            </a:r>
            <a:endParaRPr sz="900">
              <a:solidFill>
                <a:srgbClr val="BD634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39263"/>
        </a:solidFill>
      </p:bgPr>
    </p:bg>
    <p:spTree>
      <p:nvGrpSpPr>
        <p:cNvPr id="74" name="Shape 74"/>
        <p:cNvGrpSpPr/>
        <p:nvPr/>
      </p:nvGrpSpPr>
      <p:grpSpPr>
        <a:xfrm>
          <a:off x="0" y="0"/>
          <a:ext cx="0" cy="0"/>
          <a:chOff x="0" y="0"/>
          <a:chExt cx="0" cy="0"/>
        </a:xfrm>
      </p:grpSpPr>
      <p:sp>
        <p:nvSpPr>
          <p:cNvPr id="75" name="Google Shape;75;p11"/>
          <p:cNvSpPr/>
          <p:nvPr/>
        </p:nvSpPr>
        <p:spPr>
          <a:xfrm>
            <a:off x="619125" y="495300"/>
            <a:ext cx="1085850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250">
                <a:solidFill>
                  <a:srgbClr val="FFFFFF"/>
                </a:solidFill>
              </a:rPr>
              <a:t>SMART-SERVE</a:t>
            </a:r>
            <a:r>
              <a:rPr b="0" lang="en-US" sz="5250">
                <a:solidFill>
                  <a:srgbClr val="FFFFFF"/>
                </a:solidFill>
                <a:latin typeface="Arial"/>
                <a:ea typeface="Arial"/>
                <a:cs typeface="Arial"/>
                <a:sym typeface="Arial"/>
              </a:rPr>
              <a:t> GOAL</a:t>
            </a:r>
            <a:endParaRPr sz="2300"/>
          </a:p>
        </p:txBody>
      </p:sp>
      <p:sp>
        <p:nvSpPr>
          <p:cNvPr id="76" name="Google Shape;76;p11"/>
          <p:cNvSpPr/>
          <p:nvPr/>
        </p:nvSpPr>
        <p:spPr>
          <a:xfrm>
            <a:off x="628650" y="1400175"/>
            <a:ext cx="8023800" cy="35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00">
                <a:solidFill>
                  <a:srgbClr val="FFFFFF"/>
                </a:solidFill>
                <a:latin typeface="Arial"/>
                <a:ea typeface="Arial"/>
                <a:cs typeface="Arial"/>
                <a:sym typeface="Arial"/>
              </a:rPr>
              <a:t>One connected café workflow</a:t>
            </a:r>
            <a:endParaRPr sz="100"/>
          </a:p>
        </p:txBody>
      </p:sp>
      <p:sp>
        <p:nvSpPr>
          <p:cNvPr id="77" name="Google Shape;77;p11"/>
          <p:cNvSpPr/>
          <p:nvPr/>
        </p:nvSpPr>
        <p:spPr>
          <a:xfrm>
            <a:off x="714375" y="2526825"/>
            <a:ext cx="10668000" cy="1476300"/>
          </a:xfrm>
          <a:prstGeom prst="rect">
            <a:avLst/>
          </a:prstGeom>
          <a:noFill/>
          <a:ln>
            <a:noFill/>
          </a:ln>
        </p:spPr>
        <p:txBody>
          <a:bodyPr anchorCtr="0" anchor="t" bIns="0" lIns="0" spcFirstLastPara="1" rIns="0" wrap="square" tIns="0">
            <a:noAutofit/>
          </a:bodyPr>
          <a:lstStyle/>
          <a:p>
            <a:pPr indent="-387350" lvl="0" marL="457200" rtl="0" algn="l">
              <a:spcBef>
                <a:spcPts val="0"/>
              </a:spcBef>
              <a:spcAft>
                <a:spcPts val="0"/>
              </a:spcAft>
              <a:buClr>
                <a:schemeClr val="lt1"/>
              </a:buClr>
              <a:buSzPts val="2500"/>
              <a:buChar char="●"/>
            </a:pPr>
            <a:r>
              <a:rPr b="1" lang="en-US" sz="2500">
                <a:solidFill>
                  <a:schemeClr val="lt1"/>
                </a:solidFill>
              </a:rPr>
              <a:t>Simplify café operations</a:t>
            </a:r>
            <a:r>
              <a:rPr lang="en-US" sz="2500">
                <a:solidFill>
                  <a:schemeClr val="lt1"/>
                </a:solidFill>
              </a:rPr>
              <a:t> </a:t>
            </a:r>
            <a:r>
              <a:rPr lang="en-US" sz="2000">
                <a:solidFill>
                  <a:schemeClr val="lt1"/>
                </a:solidFill>
              </a:rPr>
              <a:t>with one system for orders, payments, and inventory.</a:t>
            </a:r>
            <a:endParaRPr sz="2000">
              <a:solidFill>
                <a:schemeClr val="lt1"/>
              </a:solidFill>
            </a:endParaRPr>
          </a:p>
          <a:p>
            <a:pPr indent="-387350" lvl="0" marL="457200" rtl="0" algn="l">
              <a:spcBef>
                <a:spcPts val="0"/>
              </a:spcBef>
              <a:spcAft>
                <a:spcPts val="0"/>
              </a:spcAft>
              <a:buClr>
                <a:schemeClr val="lt1"/>
              </a:buClr>
              <a:buSzPts val="2500"/>
              <a:buChar char="●"/>
            </a:pPr>
            <a:r>
              <a:rPr b="1" lang="en-US" sz="2500">
                <a:solidFill>
                  <a:schemeClr val="lt1"/>
                </a:solidFill>
              </a:rPr>
              <a:t>Reduce billing errors</a:t>
            </a:r>
            <a:r>
              <a:rPr lang="en-US" sz="2000">
                <a:solidFill>
                  <a:schemeClr val="lt1"/>
                </a:solidFill>
              </a:rPr>
              <a:t> through automatic order calculations.</a:t>
            </a:r>
            <a:endParaRPr sz="2000">
              <a:solidFill>
                <a:schemeClr val="lt1"/>
              </a:solidFill>
            </a:endParaRPr>
          </a:p>
          <a:p>
            <a:pPr indent="-387350" lvl="0" marL="457200" rtl="0" algn="l">
              <a:spcBef>
                <a:spcPts val="0"/>
              </a:spcBef>
              <a:spcAft>
                <a:spcPts val="0"/>
              </a:spcAft>
              <a:buClr>
                <a:schemeClr val="lt1"/>
              </a:buClr>
              <a:buSzPts val="2500"/>
              <a:buChar char="●"/>
            </a:pPr>
            <a:r>
              <a:rPr b="1" lang="en-US" sz="2500">
                <a:solidFill>
                  <a:schemeClr val="lt1"/>
                </a:solidFill>
              </a:rPr>
              <a:t>Track every ingredient</a:t>
            </a:r>
            <a:r>
              <a:rPr lang="en-US" sz="2500">
                <a:solidFill>
                  <a:schemeClr val="lt1"/>
                </a:solidFill>
              </a:rPr>
              <a:t> </a:t>
            </a:r>
            <a:r>
              <a:rPr lang="en-US" sz="2000">
                <a:solidFill>
                  <a:schemeClr val="lt1"/>
                </a:solidFill>
              </a:rPr>
              <a:t>by updating stock after each successful sale.</a:t>
            </a:r>
            <a:endParaRPr sz="2000">
              <a:solidFill>
                <a:schemeClr val="lt1"/>
              </a:solidFill>
            </a:endParaRPr>
          </a:p>
          <a:p>
            <a:pPr indent="-387350" lvl="0" marL="457200" rtl="0" algn="l">
              <a:spcBef>
                <a:spcPts val="0"/>
              </a:spcBef>
              <a:spcAft>
                <a:spcPts val="0"/>
              </a:spcAft>
              <a:buClr>
                <a:schemeClr val="lt1"/>
              </a:buClr>
              <a:buSzPts val="2500"/>
              <a:buChar char="●"/>
            </a:pPr>
            <a:r>
              <a:rPr b="1" lang="en-US" sz="2500">
                <a:solidFill>
                  <a:schemeClr val="lt1"/>
                </a:solidFill>
              </a:rPr>
              <a:t>Give owners a clear daily overview</a:t>
            </a:r>
            <a:r>
              <a:rPr lang="en-US" sz="2500">
                <a:solidFill>
                  <a:schemeClr val="lt1"/>
                </a:solidFill>
              </a:rPr>
              <a:t> o</a:t>
            </a:r>
            <a:r>
              <a:rPr lang="en-US" sz="2000">
                <a:solidFill>
                  <a:schemeClr val="lt1"/>
                </a:solidFill>
              </a:rPr>
              <a:t>f sales, orders, and available stock.</a:t>
            </a:r>
            <a:endParaRPr sz="2000">
              <a:solidFill>
                <a:schemeClr val="lt1"/>
              </a:solidFill>
            </a:endParaRPr>
          </a:p>
          <a:p>
            <a:pPr indent="0" lvl="0" marL="0" marR="0" rtl="0" algn="l">
              <a:spcBef>
                <a:spcPts val="0"/>
              </a:spcBef>
              <a:spcAft>
                <a:spcPts val="0"/>
              </a:spcAft>
              <a:buNone/>
            </a:pPr>
            <a:r>
              <a:t/>
            </a:r>
            <a:endParaRPr sz="2400">
              <a:solidFill>
                <a:srgbClr val="FFFFFF"/>
              </a:solidFill>
            </a:endParaRPr>
          </a:p>
        </p:txBody>
      </p:sp>
      <p:sp>
        <p:nvSpPr>
          <p:cNvPr id="78" name="Google Shape;78;p11"/>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E1CBC3"/>
                </a:solidFill>
                <a:latin typeface="Arial"/>
                <a:ea typeface="Arial"/>
                <a:cs typeface="Arial"/>
                <a:sym typeface="Arial"/>
              </a:rPr>
              <a:t>SmartServe POS</a:t>
            </a:r>
            <a:endParaRPr/>
          </a:p>
        </p:txBody>
      </p:sp>
      <p:sp>
        <p:nvSpPr>
          <p:cNvPr id="79" name="Google Shape;79;p11"/>
          <p:cNvSpPr/>
          <p:nvPr/>
        </p:nvSpPr>
        <p:spPr>
          <a:xfrm>
            <a:off x="11239500" y="6486525"/>
            <a:ext cx="42862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E1CBC3"/>
                </a:solidFill>
                <a:latin typeface="Arial"/>
                <a:ea typeface="Arial"/>
                <a:cs typeface="Arial"/>
                <a:sym typeface="Arial"/>
              </a:rPr>
              <a:t>04</a:t>
            </a:r>
            <a:endParaRPr/>
          </a:p>
        </p:txBody>
      </p:sp>
      <p:sp>
        <p:nvSpPr>
          <p:cNvPr id="80" name="Google Shape;80;p11"/>
          <p:cNvSpPr txBox="1"/>
          <p:nvPr/>
        </p:nvSpPr>
        <p:spPr>
          <a:xfrm>
            <a:off x="704850" y="4779150"/>
            <a:ext cx="9357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chemeClr val="lt1"/>
                </a:solidFill>
              </a:rPr>
              <a:t>Our goal is to help small business owners to complete each sales with accurate billing, automatic ingredient tracking, and clear daily sales records in one simple POS system. </a:t>
            </a:r>
            <a:endParaRPr b="1" sz="1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85" name="Shape 85"/>
        <p:cNvGrpSpPr/>
        <p:nvPr/>
      </p:nvGrpSpPr>
      <p:grpSpPr>
        <a:xfrm>
          <a:off x="0" y="0"/>
          <a:ext cx="0" cy="0"/>
          <a:chOff x="0" y="0"/>
          <a:chExt cx="0" cy="0"/>
        </a:xfrm>
      </p:grpSpPr>
      <p:sp>
        <p:nvSpPr>
          <p:cNvPr id="86" name="Google Shape;86;p12"/>
          <p:cNvSpPr/>
          <p:nvPr/>
        </p:nvSpPr>
        <p:spPr>
          <a:xfrm>
            <a:off x="628650" y="457200"/>
            <a:ext cx="10953750" cy="895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650">
                <a:solidFill>
                  <a:srgbClr val="839263"/>
                </a:solidFill>
              </a:rPr>
              <a:t>CURRENT BEHAVIOUR </a:t>
            </a:r>
            <a:endParaRPr sz="2300"/>
          </a:p>
        </p:txBody>
      </p:sp>
      <p:sp>
        <p:nvSpPr>
          <p:cNvPr id="87" name="Google Shape;87;p12"/>
          <p:cNvSpPr/>
          <p:nvPr/>
        </p:nvSpPr>
        <p:spPr>
          <a:xfrm>
            <a:off x="666750" y="1524000"/>
            <a:ext cx="509587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25">
                <a:solidFill>
                  <a:srgbClr val="BD6346"/>
                </a:solidFill>
                <a:latin typeface="Arial"/>
                <a:ea typeface="Arial"/>
                <a:cs typeface="Arial"/>
                <a:sym typeface="Arial"/>
              </a:rPr>
              <a:t>Ordering and checkout</a:t>
            </a:r>
            <a:endParaRPr sz="1600"/>
          </a:p>
        </p:txBody>
      </p:sp>
      <p:sp>
        <p:nvSpPr>
          <p:cNvPr id="88" name="Google Shape;88;p12"/>
          <p:cNvSpPr/>
          <p:nvPr/>
        </p:nvSpPr>
        <p:spPr>
          <a:xfrm>
            <a:off x="642938" y="2362200"/>
            <a:ext cx="5143500" cy="366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Create and manage customer orders</a:t>
            </a:r>
            <a:endParaRPr/>
          </a:p>
          <a:p>
            <a:pPr indent="0" lvl="0" marL="0" marR="0" rtl="0" algn="l">
              <a:spcBef>
                <a:spcPts val="0"/>
              </a:spcBef>
              <a:spcAft>
                <a:spcPts val="0"/>
              </a:spcAft>
              <a:buNone/>
            </a:pPr>
            <a:r>
              <a:t/>
            </a:r>
            <a:endParaRPr b="0" sz="1725">
              <a:solidFill>
                <a:srgbClr val="553D32"/>
              </a:solidFill>
              <a:latin typeface="Arial"/>
              <a:ea typeface="Arial"/>
              <a:cs typeface="Arial"/>
              <a:sym typeface="Arial"/>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Add menu items and quantities</a:t>
            </a:r>
            <a:endParaRPr/>
          </a:p>
          <a:p>
            <a:pPr indent="0" lvl="0" marL="0" marR="0" rtl="0" algn="l">
              <a:spcBef>
                <a:spcPts val="0"/>
              </a:spcBef>
              <a:spcAft>
                <a:spcPts val="0"/>
              </a:spcAft>
              <a:buNone/>
            </a:pPr>
            <a:r>
              <a:t/>
            </a:r>
            <a:endParaRPr b="0" sz="1725">
              <a:solidFill>
                <a:srgbClr val="553D32"/>
              </a:solidFill>
              <a:latin typeface="Arial"/>
              <a:ea typeface="Arial"/>
              <a:cs typeface="Arial"/>
              <a:sym typeface="Arial"/>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Calculate order totals</a:t>
            </a:r>
            <a:endParaRPr/>
          </a:p>
          <a:p>
            <a:pPr indent="0" lvl="0" marL="0" marR="0" rtl="0" algn="l">
              <a:spcBef>
                <a:spcPts val="0"/>
              </a:spcBef>
              <a:spcAft>
                <a:spcPts val="0"/>
              </a:spcAft>
              <a:buNone/>
            </a:pPr>
            <a:r>
              <a:t/>
            </a:r>
            <a:endParaRPr b="0" sz="1725">
              <a:solidFill>
                <a:srgbClr val="553D32"/>
              </a:solidFill>
              <a:latin typeface="Arial"/>
              <a:ea typeface="Arial"/>
              <a:cs typeface="Arial"/>
              <a:sym typeface="Arial"/>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Simulate cash, card, and QR payments</a:t>
            </a:r>
            <a:endParaRPr/>
          </a:p>
          <a:p>
            <a:pPr indent="0" lvl="0" marL="0" marR="0" rtl="0" algn="l">
              <a:spcBef>
                <a:spcPts val="0"/>
              </a:spcBef>
              <a:spcAft>
                <a:spcPts val="0"/>
              </a:spcAft>
              <a:buNone/>
            </a:pPr>
            <a:r>
              <a:t/>
            </a:r>
            <a:endParaRPr b="0" sz="1725">
              <a:solidFill>
                <a:srgbClr val="553D32"/>
              </a:solidFill>
              <a:latin typeface="Arial"/>
              <a:ea typeface="Arial"/>
              <a:cs typeface="Arial"/>
              <a:sym typeface="Arial"/>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Generate and display receipts</a:t>
            </a:r>
            <a:endParaRPr/>
          </a:p>
        </p:txBody>
      </p:sp>
      <p:sp>
        <p:nvSpPr>
          <p:cNvPr id="89" name="Google Shape;89;p12"/>
          <p:cNvSpPr/>
          <p:nvPr/>
        </p:nvSpPr>
        <p:spPr>
          <a:xfrm>
            <a:off x="6572250" y="1524000"/>
            <a:ext cx="509587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25">
                <a:solidFill>
                  <a:srgbClr val="BD6346"/>
                </a:solidFill>
                <a:latin typeface="Arial"/>
                <a:ea typeface="Arial"/>
                <a:cs typeface="Arial"/>
                <a:sym typeface="Arial"/>
              </a:rPr>
              <a:t>Inventory and owner tools</a:t>
            </a:r>
            <a:endParaRPr sz="1600"/>
          </a:p>
        </p:txBody>
      </p:sp>
      <p:sp>
        <p:nvSpPr>
          <p:cNvPr id="90" name="Google Shape;90;p12"/>
          <p:cNvSpPr/>
          <p:nvPr/>
        </p:nvSpPr>
        <p:spPr>
          <a:xfrm>
            <a:off x="6548438" y="2267025"/>
            <a:ext cx="5143500" cy="3762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Deduct recipe ingredients after payment</a:t>
            </a:r>
            <a:endParaRPr/>
          </a:p>
          <a:p>
            <a:pPr indent="0" lvl="0" marL="0" marR="0" rtl="0" algn="l">
              <a:spcBef>
                <a:spcPts val="0"/>
              </a:spcBef>
              <a:spcAft>
                <a:spcPts val="0"/>
              </a:spcAft>
              <a:buNone/>
            </a:pPr>
            <a:r>
              <a:t/>
            </a:r>
            <a:endParaRPr b="0" sz="1725">
              <a:solidFill>
                <a:srgbClr val="553D32"/>
              </a:solidFill>
              <a:latin typeface="Arial"/>
              <a:ea typeface="Arial"/>
              <a:cs typeface="Arial"/>
              <a:sym typeface="Arial"/>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Manage ingredients and stock quantities</a:t>
            </a:r>
            <a:endParaRPr/>
          </a:p>
          <a:p>
            <a:pPr indent="0" lvl="0" marL="0" marR="0" rtl="0" algn="l">
              <a:spcBef>
                <a:spcPts val="0"/>
              </a:spcBef>
              <a:spcAft>
                <a:spcPts val="0"/>
              </a:spcAft>
              <a:buNone/>
            </a:pPr>
            <a:r>
              <a:t/>
            </a:r>
            <a:endParaRPr b="0" sz="1725">
              <a:solidFill>
                <a:srgbClr val="553D32"/>
              </a:solidFill>
              <a:latin typeface="Arial"/>
              <a:ea typeface="Arial"/>
              <a:cs typeface="Arial"/>
              <a:sym typeface="Arial"/>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Manage menu items</a:t>
            </a:r>
            <a:endParaRPr/>
          </a:p>
          <a:p>
            <a:pPr indent="0" lvl="0" marL="0" marR="0" rtl="0" algn="l">
              <a:spcBef>
                <a:spcPts val="0"/>
              </a:spcBef>
              <a:spcAft>
                <a:spcPts val="0"/>
              </a:spcAft>
              <a:buNone/>
            </a:pPr>
            <a:r>
              <a:t/>
            </a:r>
            <a:endParaRPr b="0" sz="1725">
              <a:solidFill>
                <a:srgbClr val="553D32"/>
              </a:solidFill>
              <a:latin typeface="Arial"/>
              <a:ea typeface="Arial"/>
              <a:cs typeface="Arial"/>
              <a:sym typeface="Arial"/>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Show daily sales and order information</a:t>
            </a:r>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on the owner dashboard</a:t>
            </a:r>
            <a:endParaRPr/>
          </a:p>
        </p:txBody>
      </p:sp>
      <p:sp>
        <p:nvSpPr>
          <p:cNvPr id="91" name="Google Shape;91;p12"/>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92" name="Google Shape;92;p12"/>
          <p:cNvSpPr/>
          <p:nvPr/>
        </p:nvSpPr>
        <p:spPr>
          <a:xfrm>
            <a:off x="11239500" y="6486525"/>
            <a:ext cx="42862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97" name="Shape 97"/>
        <p:cNvGrpSpPr/>
        <p:nvPr/>
      </p:nvGrpSpPr>
      <p:grpSpPr>
        <a:xfrm>
          <a:off x="0" y="0"/>
          <a:ext cx="0" cy="0"/>
          <a:chOff x="0" y="0"/>
          <a:chExt cx="0" cy="0"/>
        </a:xfrm>
      </p:grpSpPr>
      <p:sp>
        <p:nvSpPr>
          <p:cNvPr id="98" name="Google Shape;98;p13"/>
          <p:cNvSpPr/>
          <p:nvPr/>
        </p:nvSpPr>
        <p:spPr>
          <a:xfrm>
            <a:off x="628650" y="457200"/>
            <a:ext cx="10953750" cy="895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150">
                <a:solidFill>
                  <a:srgbClr val="839263"/>
                </a:solidFill>
              </a:rPr>
              <a:t>SMART-SERVE</a:t>
            </a:r>
            <a:r>
              <a:rPr b="0" lang="en-US" sz="4150">
                <a:solidFill>
                  <a:srgbClr val="839263"/>
                </a:solidFill>
                <a:latin typeface="Arial"/>
                <a:ea typeface="Arial"/>
                <a:cs typeface="Arial"/>
                <a:sym typeface="Arial"/>
              </a:rPr>
              <a:t> WORKFLOW</a:t>
            </a:r>
            <a:endParaRPr sz="1800"/>
          </a:p>
        </p:txBody>
      </p:sp>
      <p:sp>
        <p:nvSpPr>
          <p:cNvPr id="99" name="Google Shape;99;p13"/>
          <p:cNvSpPr/>
          <p:nvPr/>
        </p:nvSpPr>
        <p:spPr>
          <a:xfrm>
            <a:off x="666750" y="1714500"/>
            <a:ext cx="8382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150">
                <a:solidFill>
                  <a:srgbClr val="839263"/>
                </a:solidFill>
                <a:latin typeface="Arial"/>
                <a:ea typeface="Arial"/>
                <a:cs typeface="Arial"/>
                <a:sym typeface="Arial"/>
              </a:rPr>
              <a:t>01</a:t>
            </a:r>
            <a:endParaRPr/>
          </a:p>
        </p:txBody>
      </p:sp>
      <p:sp>
        <p:nvSpPr>
          <p:cNvPr id="100" name="Google Shape;100;p13"/>
          <p:cNvSpPr/>
          <p:nvPr/>
        </p:nvSpPr>
        <p:spPr>
          <a:xfrm>
            <a:off x="666750" y="2324100"/>
            <a:ext cx="3381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BD6346"/>
                </a:solidFill>
                <a:latin typeface="Arial"/>
                <a:ea typeface="Arial"/>
                <a:cs typeface="Arial"/>
                <a:sym typeface="Arial"/>
              </a:rPr>
              <a:t>Configure</a:t>
            </a:r>
            <a:endParaRPr/>
          </a:p>
        </p:txBody>
      </p:sp>
      <p:sp>
        <p:nvSpPr>
          <p:cNvPr id="101" name="Google Shape;101;p13"/>
          <p:cNvSpPr/>
          <p:nvPr/>
        </p:nvSpPr>
        <p:spPr>
          <a:xfrm>
            <a:off x="666750" y="2771775"/>
            <a:ext cx="3429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Set menu items, recipes,</a:t>
            </a:r>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and ingredient stock.</a:t>
            </a:r>
            <a:endParaRPr/>
          </a:p>
        </p:txBody>
      </p:sp>
      <p:sp>
        <p:nvSpPr>
          <p:cNvPr id="102" name="Google Shape;102;p13"/>
          <p:cNvSpPr/>
          <p:nvPr/>
        </p:nvSpPr>
        <p:spPr>
          <a:xfrm>
            <a:off x="4524375" y="1714500"/>
            <a:ext cx="8382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150">
                <a:solidFill>
                  <a:srgbClr val="839263"/>
                </a:solidFill>
                <a:latin typeface="Arial"/>
                <a:ea typeface="Arial"/>
                <a:cs typeface="Arial"/>
                <a:sym typeface="Arial"/>
              </a:rPr>
              <a:t>02</a:t>
            </a:r>
            <a:endParaRPr/>
          </a:p>
        </p:txBody>
      </p:sp>
      <p:sp>
        <p:nvSpPr>
          <p:cNvPr id="103" name="Google Shape;103;p13"/>
          <p:cNvSpPr/>
          <p:nvPr/>
        </p:nvSpPr>
        <p:spPr>
          <a:xfrm>
            <a:off x="4524375" y="2324100"/>
            <a:ext cx="3381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BD6346"/>
                </a:solidFill>
                <a:latin typeface="Arial"/>
                <a:ea typeface="Arial"/>
                <a:cs typeface="Arial"/>
                <a:sym typeface="Arial"/>
              </a:rPr>
              <a:t>Create order</a:t>
            </a:r>
            <a:endParaRPr/>
          </a:p>
        </p:txBody>
      </p:sp>
      <p:sp>
        <p:nvSpPr>
          <p:cNvPr id="104" name="Google Shape;104;p13"/>
          <p:cNvSpPr/>
          <p:nvPr/>
        </p:nvSpPr>
        <p:spPr>
          <a:xfrm>
            <a:off x="4524375" y="2771775"/>
            <a:ext cx="3429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Select menu items</a:t>
            </a:r>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and quantities.</a:t>
            </a:r>
            <a:endParaRPr/>
          </a:p>
        </p:txBody>
      </p:sp>
      <p:sp>
        <p:nvSpPr>
          <p:cNvPr id="105" name="Google Shape;105;p13"/>
          <p:cNvSpPr/>
          <p:nvPr/>
        </p:nvSpPr>
        <p:spPr>
          <a:xfrm>
            <a:off x="8382000" y="1714500"/>
            <a:ext cx="8382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150">
                <a:solidFill>
                  <a:srgbClr val="839263"/>
                </a:solidFill>
                <a:latin typeface="Arial"/>
                <a:ea typeface="Arial"/>
                <a:cs typeface="Arial"/>
                <a:sym typeface="Arial"/>
              </a:rPr>
              <a:t>03</a:t>
            </a:r>
            <a:endParaRPr/>
          </a:p>
        </p:txBody>
      </p:sp>
      <p:sp>
        <p:nvSpPr>
          <p:cNvPr id="106" name="Google Shape;106;p13"/>
          <p:cNvSpPr/>
          <p:nvPr/>
        </p:nvSpPr>
        <p:spPr>
          <a:xfrm>
            <a:off x="8382000" y="2324100"/>
            <a:ext cx="3381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BD6346"/>
                </a:solidFill>
                <a:latin typeface="Arial"/>
                <a:ea typeface="Arial"/>
                <a:cs typeface="Arial"/>
                <a:sym typeface="Arial"/>
              </a:rPr>
              <a:t>Review total</a:t>
            </a:r>
            <a:endParaRPr/>
          </a:p>
        </p:txBody>
      </p:sp>
      <p:sp>
        <p:nvSpPr>
          <p:cNvPr id="107" name="Google Shape;107;p13"/>
          <p:cNvSpPr/>
          <p:nvPr/>
        </p:nvSpPr>
        <p:spPr>
          <a:xfrm>
            <a:off x="8382000" y="2771775"/>
            <a:ext cx="3429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Calculate the total</a:t>
            </a:r>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and check available stock.</a:t>
            </a:r>
            <a:endParaRPr/>
          </a:p>
        </p:txBody>
      </p:sp>
      <p:sp>
        <p:nvSpPr>
          <p:cNvPr id="108" name="Google Shape;108;p13"/>
          <p:cNvSpPr/>
          <p:nvPr/>
        </p:nvSpPr>
        <p:spPr>
          <a:xfrm>
            <a:off x="666750" y="4000500"/>
            <a:ext cx="8382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150">
                <a:solidFill>
                  <a:srgbClr val="839263"/>
                </a:solidFill>
                <a:latin typeface="Arial"/>
                <a:ea typeface="Arial"/>
                <a:cs typeface="Arial"/>
                <a:sym typeface="Arial"/>
              </a:rPr>
              <a:t>04</a:t>
            </a:r>
            <a:endParaRPr/>
          </a:p>
        </p:txBody>
      </p:sp>
      <p:sp>
        <p:nvSpPr>
          <p:cNvPr id="109" name="Google Shape;109;p13"/>
          <p:cNvSpPr/>
          <p:nvPr/>
        </p:nvSpPr>
        <p:spPr>
          <a:xfrm>
            <a:off x="666750" y="4610100"/>
            <a:ext cx="3381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BD6346"/>
                </a:solidFill>
                <a:latin typeface="Arial"/>
                <a:ea typeface="Arial"/>
                <a:cs typeface="Arial"/>
                <a:sym typeface="Arial"/>
              </a:rPr>
              <a:t>Simulate payment</a:t>
            </a:r>
            <a:endParaRPr/>
          </a:p>
        </p:txBody>
      </p:sp>
      <p:sp>
        <p:nvSpPr>
          <p:cNvPr id="110" name="Google Shape;110;p13"/>
          <p:cNvSpPr/>
          <p:nvPr/>
        </p:nvSpPr>
        <p:spPr>
          <a:xfrm>
            <a:off x="666750" y="5057775"/>
            <a:ext cx="3429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Confirm cash, card,</a:t>
            </a:r>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or QR payment.</a:t>
            </a:r>
            <a:endParaRPr/>
          </a:p>
        </p:txBody>
      </p:sp>
      <p:sp>
        <p:nvSpPr>
          <p:cNvPr id="111" name="Google Shape;111;p13"/>
          <p:cNvSpPr/>
          <p:nvPr/>
        </p:nvSpPr>
        <p:spPr>
          <a:xfrm>
            <a:off x="4524375" y="4000500"/>
            <a:ext cx="8382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150">
                <a:solidFill>
                  <a:srgbClr val="839263"/>
                </a:solidFill>
                <a:latin typeface="Arial"/>
                <a:ea typeface="Arial"/>
                <a:cs typeface="Arial"/>
                <a:sym typeface="Arial"/>
              </a:rPr>
              <a:t>05</a:t>
            </a:r>
            <a:endParaRPr/>
          </a:p>
        </p:txBody>
      </p:sp>
      <p:sp>
        <p:nvSpPr>
          <p:cNvPr id="112" name="Google Shape;112;p13"/>
          <p:cNvSpPr/>
          <p:nvPr/>
        </p:nvSpPr>
        <p:spPr>
          <a:xfrm>
            <a:off x="4524375" y="4610100"/>
            <a:ext cx="3381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BD6346"/>
                </a:solidFill>
                <a:latin typeface="Arial"/>
                <a:ea typeface="Arial"/>
                <a:cs typeface="Arial"/>
                <a:sym typeface="Arial"/>
              </a:rPr>
              <a:t>Complete sale</a:t>
            </a:r>
            <a:endParaRPr/>
          </a:p>
        </p:txBody>
      </p:sp>
      <p:sp>
        <p:nvSpPr>
          <p:cNvPr id="113" name="Google Shape;113;p13"/>
          <p:cNvSpPr/>
          <p:nvPr/>
        </p:nvSpPr>
        <p:spPr>
          <a:xfrm>
            <a:off x="4524375" y="5057775"/>
            <a:ext cx="3429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Display a receipt and deduct</a:t>
            </a:r>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recipe ingredients once.</a:t>
            </a:r>
            <a:endParaRPr/>
          </a:p>
        </p:txBody>
      </p:sp>
      <p:sp>
        <p:nvSpPr>
          <p:cNvPr id="114" name="Google Shape;114;p13"/>
          <p:cNvSpPr/>
          <p:nvPr/>
        </p:nvSpPr>
        <p:spPr>
          <a:xfrm>
            <a:off x="8382000" y="4000500"/>
            <a:ext cx="8382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150">
                <a:solidFill>
                  <a:srgbClr val="839263"/>
                </a:solidFill>
                <a:latin typeface="Arial"/>
                <a:ea typeface="Arial"/>
                <a:cs typeface="Arial"/>
                <a:sym typeface="Arial"/>
              </a:rPr>
              <a:t>06</a:t>
            </a:r>
            <a:endParaRPr/>
          </a:p>
        </p:txBody>
      </p:sp>
      <p:sp>
        <p:nvSpPr>
          <p:cNvPr id="115" name="Google Shape;115;p13"/>
          <p:cNvSpPr/>
          <p:nvPr/>
        </p:nvSpPr>
        <p:spPr>
          <a:xfrm>
            <a:off x="8382000" y="4610100"/>
            <a:ext cx="3381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875">
                <a:solidFill>
                  <a:srgbClr val="BD6346"/>
                </a:solidFill>
                <a:latin typeface="Arial"/>
                <a:ea typeface="Arial"/>
                <a:cs typeface="Arial"/>
                <a:sym typeface="Arial"/>
              </a:rPr>
              <a:t>Review records</a:t>
            </a:r>
            <a:endParaRPr/>
          </a:p>
        </p:txBody>
      </p:sp>
      <p:sp>
        <p:nvSpPr>
          <p:cNvPr id="116" name="Google Shape;116;p13"/>
          <p:cNvSpPr/>
          <p:nvPr/>
        </p:nvSpPr>
        <p:spPr>
          <a:xfrm>
            <a:off x="8382000" y="5057775"/>
            <a:ext cx="3429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553D32"/>
                </a:solidFill>
                <a:latin typeface="Arial"/>
                <a:ea typeface="Arial"/>
                <a:cs typeface="Arial"/>
                <a:sym typeface="Arial"/>
              </a:rPr>
              <a:t>Check order information,</a:t>
            </a:r>
            <a:endParaRPr/>
          </a:p>
          <a:p>
            <a:pPr indent="0" lvl="0" marL="0" marR="0" rtl="0" algn="l">
              <a:spcBef>
                <a:spcPts val="0"/>
              </a:spcBef>
              <a:spcAft>
                <a:spcPts val="0"/>
              </a:spcAft>
              <a:buNone/>
            </a:pPr>
            <a:r>
              <a:rPr b="0" lang="en-US" sz="1725">
                <a:solidFill>
                  <a:srgbClr val="553D32"/>
                </a:solidFill>
                <a:latin typeface="Arial"/>
                <a:ea typeface="Arial"/>
                <a:cs typeface="Arial"/>
                <a:sym typeface="Arial"/>
              </a:rPr>
              <a:t>stock, and daily sales.</a:t>
            </a:r>
            <a:endParaRPr/>
          </a:p>
        </p:txBody>
      </p:sp>
      <p:sp>
        <p:nvSpPr>
          <p:cNvPr id="117" name="Google Shape;117;p13"/>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118" name="Google Shape;118;p13"/>
          <p:cNvSpPr/>
          <p:nvPr/>
        </p:nvSpPr>
        <p:spPr>
          <a:xfrm>
            <a:off x="11239500" y="6486525"/>
            <a:ext cx="428625"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123" name="Shape 123"/>
        <p:cNvGrpSpPr/>
        <p:nvPr/>
      </p:nvGrpSpPr>
      <p:grpSpPr>
        <a:xfrm>
          <a:off x="0" y="0"/>
          <a:ext cx="0" cy="0"/>
          <a:chOff x="0" y="0"/>
          <a:chExt cx="0" cy="0"/>
        </a:xfrm>
      </p:grpSpPr>
      <p:sp>
        <p:nvSpPr>
          <p:cNvPr id="124" name="Google Shape;124;p14"/>
          <p:cNvSpPr/>
          <p:nvPr/>
        </p:nvSpPr>
        <p:spPr>
          <a:xfrm>
            <a:off x="628650" y="457200"/>
            <a:ext cx="10953750" cy="895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4350">
                <a:solidFill>
                  <a:srgbClr val="839263"/>
                </a:solidFill>
                <a:latin typeface="Arial"/>
                <a:ea typeface="Arial"/>
                <a:cs typeface="Arial"/>
                <a:sym typeface="Arial"/>
              </a:rPr>
              <a:t>SYSTEM TECHNOLOGY</a:t>
            </a:r>
            <a:endParaRPr sz="2000"/>
          </a:p>
        </p:txBody>
      </p:sp>
      <p:sp>
        <p:nvSpPr>
          <p:cNvPr id="125" name="Google Shape;125;p14"/>
          <p:cNvSpPr/>
          <p:nvPr/>
        </p:nvSpPr>
        <p:spPr>
          <a:xfrm>
            <a:off x="628650" y="1969750"/>
            <a:ext cx="33813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BD6346"/>
                </a:solidFill>
                <a:latin typeface="Arial"/>
                <a:ea typeface="Arial"/>
                <a:cs typeface="Arial"/>
                <a:sym typeface="Arial"/>
              </a:rPr>
              <a:t>FRONTEND</a:t>
            </a:r>
            <a:endParaRPr sz="1700"/>
          </a:p>
        </p:txBody>
      </p:sp>
      <p:sp>
        <p:nvSpPr>
          <p:cNvPr id="126" name="Google Shape;126;p14"/>
          <p:cNvSpPr/>
          <p:nvPr/>
        </p:nvSpPr>
        <p:spPr>
          <a:xfrm>
            <a:off x="628650" y="2646025"/>
            <a:ext cx="3381300" cy="381000"/>
          </a:xfrm>
          <a:prstGeom prst="rect">
            <a:avLst/>
          </a:prstGeom>
          <a:noFill/>
          <a:ln>
            <a:noFill/>
          </a:ln>
        </p:spPr>
        <p:txBody>
          <a:bodyPr anchorCtr="0" anchor="t" bIns="0" lIns="0" spcFirstLastPara="1" rIns="0" wrap="square" tIns="0">
            <a:noAutofit/>
          </a:bodyPr>
          <a:lstStyle/>
          <a:p>
            <a:pPr indent="-352425" lvl="0" marL="457200" marR="0" rtl="0" algn="l">
              <a:spcBef>
                <a:spcPts val="0"/>
              </a:spcBef>
              <a:spcAft>
                <a:spcPts val="0"/>
              </a:spcAft>
              <a:buClr>
                <a:srgbClr val="553D32"/>
              </a:buClr>
              <a:buSzPts val="1950"/>
              <a:buChar char="●"/>
            </a:pPr>
            <a:r>
              <a:rPr b="0" lang="en-US" sz="1950">
                <a:solidFill>
                  <a:srgbClr val="553D32"/>
                </a:solidFill>
                <a:latin typeface="Arial"/>
                <a:ea typeface="Arial"/>
                <a:cs typeface="Arial"/>
                <a:sym typeface="Arial"/>
              </a:rPr>
              <a:t>React </a:t>
            </a:r>
            <a:endParaRPr sz="1950">
              <a:solidFill>
                <a:srgbClr val="553D32"/>
              </a:solidFill>
            </a:endParaRPr>
          </a:p>
          <a:p>
            <a:pPr indent="-352425" lvl="0" marL="457200" marR="0" rtl="0" algn="l">
              <a:spcBef>
                <a:spcPts val="0"/>
              </a:spcBef>
              <a:spcAft>
                <a:spcPts val="0"/>
              </a:spcAft>
              <a:buClr>
                <a:srgbClr val="553D32"/>
              </a:buClr>
              <a:buSzPts val="1950"/>
              <a:buChar char="●"/>
            </a:pPr>
            <a:r>
              <a:rPr lang="en-US" sz="1950">
                <a:solidFill>
                  <a:srgbClr val="553D32"/>
                </a:solidFill>
              </a:rPr>
              <a:t>T</a:t>
            </a:r>
            <a:r>
              <a:rPr b="0" lang="en-US" sz="1950">
                <a:solidFill>
                  <a:srgbClr val="553D32"/>
                </a:solidFill>
                <a:latin typeface="Arial"/>
                <a:ea typeface="Arial"/>
                <a:cs typeface="Arial"/>
                <a:sym typeface="Arial"/>
              </a:rPr>
              <a:t>ypeScript</a:t>
            </a:r>
            <a:endParaRPr/>
          </a:p>
        </p:txBody>
      </p:sp>
      <p:sp>
        <p:nvSpPr>
          <p:cNvPr id="127" name="Google Shape;127;p14"/>
          <p:cNvSpPr/>
          <p:nvPr/>
        </p:nvSpPr>
        <p:spPr>
          <a:xfrm>
            <a:off x="4486275" y="1969750"/>
            <a:ext cx="33813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BD6346"/>
                </a:solidFill>
                <a:latin typeface="Arial"/>
                <a:ea typeface="Arial"/>
                <a:cs typeface="Arial"/>
                <a:sym typeface="Arial"/>
              </a:rPr>
              <a:t>BACKEND</a:t>
            </a:r>
            <a:endParaRPr sz="1700"/>
          </a:p>
        </p:txBody>
      </p:sp>
      <p:sp>
        <p:nvSpPr>
          <p:cNvPr id="128" name="Google Shape;128;p14"/>
          <p:cNvSpPr/>
          <p:nvPr/>
        </p:nvSpPr>
        <p:spPr>
          <a:xfrm>
            <a:off x="4486275" y="2646025"/>
            <a:ext cx="33813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553D32"/>
                </a:solidFill>
                <a:latin typeface="Arial"/>
                <a:ea typeface="Arial"/>
                <a:cs typeface="Arial"/>
                <a:sym typeface="Arial"/>
              </a:rPr>
              <a:t>Python + FastAPI</a:t>
            </a:r>
            <a:endParaRPr/>
          </a:p>
        </p:txBody>
      </p:sp>
      <p:sp>
        <p:nvSpPr>
          <p:cNvPr id="129" name="Google Shape;129;p14"/>
          <p:cNvSpPr/>
          <p:nvPr/>
        </p:nvSpPr>
        <p:spPr>
          <a:xfrm>
            <a:off x="8343900" y="1969750"/>
            <a:ext cx="33813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50">
                <a:solidFill>
                  <a:srgbClr val="BD6346"/>
                </a:solidFill>
                <a:latin typeface="Arial"/>
                <a:ea typeface="Arial"/>
                <a:cs typeface="Arial"/>
                <a:sym typeface="Arial"/>
              </a:rPr>
              <a:t>DATABASE</a:t>
            </a:r>
            <a:endParaRPr sz="1700"/>
          </a:p>
        </p:txBody>
      </p:sp>
      <p:sp>
        <p:nvSpPr>
          <p:cNvPr id="130" name="Google Shape;130;p14"/>
          <p:cNvSpPr/>
          <p:nvPr/>
        </p:nvSpPr>
        <p:spPr>
          <a:xfrm>
            <a:off x="8343900" y="2646025"/>
            <a:ext cx="33813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553D32"/>
                </a:solidFill>
                <a:latin typeface="Arial"/>
                <a:ea typeface="Arial"/>
                <a:cs typeface="Arial"/>
                <a:sym typeface="Arial"/>
              </a:rPr>
              <a:t>PostgreSQL</a:t>
            </a:r>
            <a:endParaRPr/>
          </a:p>
        </p:txBody>
      </p:sp>
      <p:sp>
        <p:nvSpPr>
          <p:cNvPr id="131" name="Google Shape;131;p14"/>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132" name="Google Shape;132;p14"/>
          <p:cNvSpPr/>
          <p:nvPr/>
        </p:nvSpPr>
        <p:spPr>
          <a:xfrm>
            <a:off x="11239500"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39263"/>
        </a:solidFill>
      </p:bgPr>
    </p:bg>
    <p:spTree>
      <p:nvGrpSpPr>
        <p:cNvPr id="137" name="Shape 137"/>
        <p:cNvGrpSpPr/>
        <p:nvPr/>
      </p:nvGrpSpPr>
      <p:grpSpPr>
        <a:xfrm>
          <a:off x="0" y="0"/>
          <a:ext cx="0" cy="0"/>
          <a:chOff x="0" y="0"/>
          <a:chExt cx="0" cy="0"/>
        </a:xfrm>
      </p:grpSpPr>
      <p:sp>
        <p:nvSpPr>
          <p:cNvPr id="138" name="Google Shape;138;p15"/>
          <p:cNvSpPr/>
          <p:nvPr/>
        </p:nvSpPr>
        <p:spPr>
          <a:xfrm>
            <a:off x="619125" y="495300"/>
            <a:ext cx="10858500" cy="9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250">
                <a:solidFill>
                  <a:srgbClr val="FFFFFF"/>
                </a:solidFill>
              </a:rPr>
              <a:t>Lama Muskan (@Sammygit15) </a:t>
            </a:r>
            <a:endParaRPr sz="2300"/>
          </a:p>
        </p:txBody>
      </p:sp>
      <p:sp>
        <p:nvSpPr>
          <p:cNvPr id="139" name="Google Shape;139;p15"/>
          <p:cNvSpPr/>
          <p:nvPr/>
        </p:nvSpPr>
        <p:spPr>
          <a:xfrm>
            <a:off x="714375" y="2526825"/>
            <a:ext cx="10668000" cy="1476300"/>
          </a:xfrm>
          <a:prstGeom prst="rect">
            <a:avLst/>
          </a:prstGeom>
          <a:noFill/>
          <a:ln>
            <a:noFill/>
          </a:ln>
        </p:spPr>
        <p:txBody>
          <a:bodyPr anchorCtr="0" anchor="t" bIns="0" lIns="0" spcFirstLastPara="1" rIns="0" wrap="square" tIns="0">
            <a:noAutofit/>
          </a:bodyPr>
          <a:lstStyle/>
          <a:p>
            <a:pPr indent="-387350" lvl="0" marL="457200" rtl="0" algn="l">
              <a:spcBef>
                <a:spcPts val="0"/>
              </a:spcBef>
              <a:spcAft>
                <a:spcPts val="0"/>
              </a:spcAft>
              <a:buClr>
                <a:schemeClr val="lt1"/>
              </a:buClr>
              <a:buSzPts val="2500"/>
              <a:buAutoNum type="arabicPeriod"/>
            </a:pPr>
            <a:r>
              <a:rPr b="1" lang="en-US" sz="2500">
                <a:solidFill>
                  <a:schemeClr val="lt1"/>
                </a:solidFill>
              </a:rPr>
              <a:t>Researched accurate order-total calculations.</a:t>
            </a:r>
            <a:endParaRPr b="1" sz="2500">
              <a:solidFill>
                <a:schemeClr val="lt1"/>
              </a:solidFill>
            </a:endParaRPr>
          </a:p>
          <a:p>
            <a:pPr indent="-387350" lvl="0" marL="457200" rtl="0" algn="l">
              <a:spcBef>
                <a:spcPts val="0"/>
              </a:spcBef>
              <a:spcAft>
                <a:spcPts val="0"/>
              </a:spcAft>
              <a:buClr>
                <a:schemeClr val="lt1"/>
              </a:buClr>
              <a:buSzPts val="2500"/>
              <a:buAutoNum type="arabicPeriod"/>
            </a:pPr>
            <a:r>
              <a:rPr b="1" lang="en-US" sz="2500">
                <a:solidFill>
                  <a:schemeClr val="lt1"/>
                </a:solidFill>
              </a:rPr>
              <a:t>Recommended preserving original prices in orders.</a:t>
            </a:r>
            <a:endParaRPr b="1" sz="2500">
              <a:solidFill>
                <a:schemeClr val="lt1"/>
              </a:solidFill>
            </a:endParaRPr>
          </a:p>
          <a:p>
            <a:pPr indent="-387350" lvl="0" marL="457200" rtl="0" algn="l">
              <a:spcBef>
                <a:spcPts val="0"/>
              </a:spcBef>
              <a:spcAft>
                <a:spcPts val="0"/>
              </a:spcAft>
              <a:buClr>
                <a:schemeClr val="lt1"/>
              </a:buClr>
              <a:buSzPts val="2500"/>
              <a:buAutoNum type="arabicPeriod"/>
            </a:pPr>
            <a:r>
              <a:rPr b="1" lang="en-US" sz="2500">
                <a:solidFill>
                  <a:schemeClr val="lt1"/>
                </a:solidFill>
              </a:rPr>
              <a:t>Prepared project reports, checklists, and the demo script.</a:t>
            </a:r>
            <a:endParaRPr b="1" sz="2500">
              <a:solidFill>
                <a:schemeClr val="lt1"/>
              </a:solidFill>
            </a:endParaRPr>
          </a:p>
          <a:p>
            <a:pPr indent="0" lvl="0" marL="457200" marR="0" rtl="0" algn="l">
              <a:spcBef>
                <a:spcPts val="0"/>
              </a:spcBef>
              <a:spcAft>
                <a:spcPts val="0"/>
              </a:spcAft>
              <a:buNone/>
            </a:pPr>
            <a:r>
              <a:t/>
            </a:r>
            <a:endParaRPr b="1" sz="2500">
              <a:solidFill>
                <a:schemeClr val="lt1"/>
              </a:solidFill>
            </a:endParaRPr>
          </a:p>
        </p:txBody>
      </p:sp>
      <p:sp>
        <p:nvSpPr>
          <p:cNvPr id="140" name="Google Shape;140;p15"/>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E1CBC3"/>
                </a:solidFill>
                <a:latin typeface="Arial"/>
                <a:ea typeface="Arial"/>
                <a:cs typeface="Arial"/>
                <a:sym typeface="Arial"/>
              </a:rPr>
              <a:t>SmartServe POS</a:t>
            </a:r>
            <a:endParaRPr/>
          </a:p>
        </p:txBody>
      </p:sp>
      <p:sp>
        <p:nvSpPr>
          <p:cNvPr id="141" name="Google Shape;141;p15"/>
          <p:cNvSpPr/>
          <p:nvPr/>
        </p:nvSpPr>
        <p:spPr>
          <a:xfrm>
            <a:off x="11239500"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E1CBC3"/>
                </a:solidFill>
                <a:latin typeface="Arial"/>
                <a:ea typeface="Arial"/>
                <a:cs typeface="Arial"/>
                <a:sym typeface="Arial"/>
              </a:rPr>
              <a:t>08</a:t>
            </a:r>
            <a:endParaRPr/>
          </a:p>
        </p:txBody>
      </p:sp>
      <p:sp>
        <p:nvSpPr>
          <p:cNvPr id="142" name="Google Shape;142;p15"/>
          <p:cNvSpPr txBox="1"/>
          <p:nvPr/>
        </p:nvSpPr>
        <p:spPr>
          <a:xfrm>
            <a:off x="628650" y="5129850"/>
            <a:ext cx="3000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u="sng">
                <a:solidFill>
                  <a:schemeClr val="lt1"/>
                </a:solidFill>
                <a:hlinkClick r:id="rId3">
                  <a:extLst>
                    <a:ext uri="{A12FA001-AC4F-418D-AE19-62706E023703}">
                      <ahyp:hlinkClr val="tx"/>
                    </a:ext>
                  </a:extLst>
                </a:hlinkClick>
              </a:rPr>
              <a:t>Research proof</a:t>
            </a:r>
            <a:endParaRPr sz="2300">
              <a:solidFill>
                <a:schemeClr val="lt1"/>
              </a:solidFill>
            </a:endParaRPr>
          </a:p>
        </p:txBody>
      </p:sp>
      <p:sp>
        <p:nvSpPr>
          <p:cNvPr id="143" name="Google Shape;143;p15"/>
          <p:cNvSpPr txBox="1"/>
          <p:nvPr/>
        </p:nvSpPr>
        <p:spPr>
          <a:xfrm>
            <a:off x="3711400" y="5129850"/>
            <a:ext cx="3000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u="sng">
                <a:solidFill>
                  <a:schemeClr val="lt1"/>
                </a:solidFill>
                <a:hlinkClick r:id="rId4">
                  <a:extLst>
                    <a:ext uri="{A12FA001-AC4F-418D-AE19-62706E023703}">
                      <ahyp:hlinkClr val="tx"/>
                    </a:ext>
                  </a:extLst>
                </a:hlinkClick>
              </a:rPr>
              <a:t>Evidence</a:t>
            </a:r>
            <a:endParaRPr sz="2300">
              <a:solidFill>
                <a:schemeClr val="lt1"/>
              </a:solidFill>
            </a:endParaRPr>
          </a:p>
        </p:txBody>
      </p:sp>
      <p:sp>
        <p:nvSpPr>
          <p:cNvPr id="144" name="Google Shape;144;p15"/>
          <p:cNvSpPr txBox="1"/>
          <p:nvPr/>
        </p:nvSpPr>
        <p:spPr>
          <a:xfrm>
            <a:off x="6028125" y="5129850"/>
            <a:ext cx="1994100" cy="72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u="sng">
                <a:solidFill>
                  <a:schemeClr val="lt1"/>
                </a:solidFill>
                <a:hlinkClick r:id="rId5">
                  <a:extLst>
                    <a:ext uri="{A12FA001-AC4F-418D-AE19-62706E023703}">
                      <ahyp:hlinkClr val="tx"/>
                    </a:ext>
                  </a:extLst>
                </a:hlinkClick>
              </a:rPr>
              <a:t>Contribution</a:t>
            </a:r>
            <a:endParaRPr sz="23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149" name="Shape 149"/>
        <p:cNvGrpSpPr/>
        <p:nvPr/>
      </p:nvGrpSpPr>
      <p:grpSpPr>
        <a:xfrm>
          <a:off x="0" y="0"/>
          <a:ext cx="0" cy="0"/>
          <a:chOff x="0" y="0"/>
          <a:chExt cx="0" cy="0"/>
        </a:xfrm>
      </p:grpSpPr>
      <p:sp>
        <p:nvSpPr>
          <p:cNvPr id="150" name="Google Shape;150;p16"/>
          <p:cNvSpPr/>
          <p:nvPr/>
        </p:nvSpPr>
        <p:spPr>
          <a:xfrm>
            <a:off x="628650" y="457200"/>
            <a:ext cx="10953900" cy="89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650">
                <a:solidFill>
                  <a:srgbClr val="839263"/>
                </a:solidFill>
              </a:rPr>
              <a:t>Ualson Tamang (@ualsom) </a:t>
            </a:r>
            <a:endParaRPr sz="2300"/>
          </a:p>
        </p:txBody>
      </p:sp>
      <p:sp>
        <p:nvSpPr>
          <p:cNvPr id="151" name="Google Shape;151;p16"/>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152" name="Google Shape;152;p16"/>
          <p:cNvSpPr/>
          <p:nvPr/>
        </p:nvSpPr>
        <p:spPr>
          <a:xfrm>
            <a:off x="11239500"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rgbClr val="BD6346"/>
                </a:solidFill>
              </a:rPr>
              <a:t>09</a:t>
            </a:r>
            <a:endParaRPr/>
          </a:p>
        </p:txBody>
      </p:sp>
      <p:sp>
        <p:nvSpPr>
          <p:cNvPr id="153" name="Google Shape;153;p16"/>
          <p:cNvSpPr txBox="1"/>
          <p:nvPr/>
        </p:nvSpPr>
        <p:spPr>
          <a:xfrm>
            <a:off x="945125" y="1890275"/>
            <a:ext cx="10223700" cy="12333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AutoNum type="arabicPeriod"/>
            </a:pPr>
            <a:r>
              <a:rPr lang="en-US" sz="2200"/>
              <a:t>Compared ways to display unavailable menu items.</a:t>
            </a:r>
            <a:endParaRPr sz="2200"/>
          </a:p>
          <a:p>
            <a:pPr indent="-368300" lvl="0" marL="457200" rtl="0" algn="l">
              <a:spcBef>
                <a:spcPts val="0"/>
              </a:spcBef>
              <a:spcAft>
                <a:spcPts val="0"/>
              </a:spcAft>
              <a:buSzPts val="2200"/>
              <a:buAutoNum type="arabicPeriod"/>
            </a:pPr>
            <a:r>
              <a:rPr lang="en-US" sz="2200"/>
              <a:t>Created sketches and recommended an “Out of Stock” label.</a:t>
            </a:r>
            <a:endParaRPr sz="2200"/>
          </a:p>
          <a:p>
            <a:pPr indent="-368300" lvl="0" marL="457200" rtl="0" algn="l">
              <a:spcBef>
                <a:spcPts val="0"/>
              </a:spcBef>
              <a:spcAft>
                <a:spcPts val="0"/>
              </a:spcAft>
              <a:buSzPts val="2200"/>
              <a:buAutoNum type="arabicPeriod"/>
            </a:pPr>
            <a:r>
              <a:rPr lang="en-US" sz="2200"/>
              <a:t>Reported ingredient-unit editing problems with screenshots.</a:t>
            </a:r>
            <a:endParaRPr sz="2200"/>
          </a:p>
          <a:p>
            <a:pPr indent="0" lvl="0" marL="0" rtl="0" algn="l">
              <a:spcBef>
                <a:spcPts val="0"/>
              </a:spcBef>
              <a:spcAft>
                <a:spcPts val="0"/>
              </a:spcAft>
              <a:buNone/>
            </a:pPr>
            <a:r>
              <a:t/>
            </a:r>
            <a:endParaRPr sz="2200"/>
          </a:p>
        </p:txBody>
      </p:sp>
      <p:sp>
        <p:nvSpPr>
          <p:cNvPr id="154" name="Google Shape;154;p16"/>
          <p:cNvSpPr txBox="1"/>
          <p:nvPr/>
        </p:nvSpPr>
        <p:spPr>
          <a:xfrm>
            <a:off x="979725" y="4702625"/>
            <a:ext cx="2224500" cy="4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u="sng">
                <a:solidFill>
                  <a:schemeClr val="dk1"/>
                </a:solidFill>
                <a:hlinkClick r:id="rId3">
                  <a:extLst>
                    <a:ext uri="{A12FA001-AC4F-418D-AE19-62706E023703}">
                      <ahyp:hlinkClr val="tx"/>
                    </a:ext>
                  </a:extLst>
                </a:hlinkClick>
              </a:rPr>
              <a:t>Contribution</a:t>
            </a:r>
            <a:endParaRPr sz="2000">
              <a:solidFill>
                <a:schemeClr val="dk1"/>
              </a:solidFill>
            </a:endParaRPr>
          </a:p>
        </p:txBody>
      </p:sp>
      <p:sp>
        <p:nvSpPr>
          <p:cNvPr id="155" name="Google Shape;155;p16"/>
          <p:cNvSpPr txBox="1"/>
          <p:nvPr/>
        </p:nvSpPr>
        <p:spPr>
          <a:xfrm>
            <a:off x="4679575" y="4702625"/>
            <a:ext cx="4091700" cy="8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u="sng">
                <a:solidFill>
                  <a:schemeClr val="dk1"/>
                </a:solidFill>
                <a:hlinkClick r:id="rId4">
                  <a:extLst>
                    <a:ext uri="{A12FA001-AC4F-418D-AE19-62706E023703}">
                      <ahyp:hlinkClr val="tx"/>
                    </a:ext>
                  </a:extLst>
                </a:hlinkClick>
              </a:rPr>
              <a:t>ISSUE CREATED</a:t>
            </a:r>
            <a:endParaRPr sz="2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160" name="Shape 160"/>
        <p:cNvGrpSpPr/>
        <p:nvPr/>
      </p:nvGrpSpPr>
      <p:grpSpPr>
        <a:xfrm>
          <a:off x="0" y="0"/>
          <a:ext cx="0" cy="0"/>
          <a:chOff x="0" y="0"/>
          <a:chExt cx="0" cy="0"/>
        </a:xfrm>
      </p:grpSpPr>
      <p:sp>
        <p:nvSpPr>
          <p:cNvPr id="161" name="Google Shape;161;p17"/>
          <p:cNvSpPr/>
          <p:nvPr/>
        </p:nvSpPr>
        <p:spPr>
          <a:xfrm>
            <a:off x="628650" y="457200"/>
            <a:ext cx="10953900" cy="89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650">
                <a:solidFill>
                  <a:srgbClr val="839263"/>
                </a:solidFill>
              </a:rPr>
              <a:t>SHREYA RAI (@shrey776) </a:t>
            </a:r>
            <a:endParaRPr sz="2300"/>
          </a:p>
        </p:txBody>
      </p:sp>
      <p:sp>
        <p:nvSpPr>
          <p:cNvPr id="162" name="Google Shape;162;p17"/>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163" name="Google Shape;163;p17"/>
          <p:cNvSpPr/>
          <p:nvPr/>
        </p:nvSpPr>
        <p:spPr>
          <a:xfrm>
            <a:off x="11239500"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900">
                <a:solidFill>
                  <a:srgbClr val="BD6346"/>
                </a:solidFill>
              </a:rPr>
              <a:t>1</a:t>
            </a:r>
            <a:r>
              <a:rPr b="0" lang="en-US" sz="900">
                <a:solidFill>
                  <a:srgbClr val="BD6346"/>
                </a:solidFill>
                <a:latin typeface="Arial"/>
                <a:ea typeface="Arial"/>
                <a:cs typeface="Arial"/>
                <a:sym typeface="Arial"/>
              </a:rPr>
              <a:t>0</a:t>
            </a:r>
            <a:endParaRPr/>
          </a:p>
        </p:txBody>
      </p:sp>
      <p:sp>
        <p:nvSpPr>
          <p:cNvPr id="164" name="Google Shape;164;p17"/>
          <p:cNvSpPr txBox="1"/>
          <p:nvPr/>
        </p:nvSpPr>
        <p:spPr>
          <a:xfrm>
            <a:off x="796825" y="1590575"/>
            <a:ext cx="10362000" cy="14523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lang="en-US" sz="2100"/>
              <a:t>I</a:t>
            </a:r>
            <a:r>
              <a:rPr lang="en-US" sz="2100"/>
              <a:t>nvestigated when ingredient stock should be checked.</a:t>
            </a:r>
            <a:endParaRPr sz="2100"/>
          </a:p>
          <a:p>
            <a:pPr indent="-361950" lvl="0" marL="457200" rtl="0" algn="l">
              <a:spcBef>
                <a:spcPts val="0"/>
              </a:spcBef>
              <a:spcAft>
                <a:spcPts val="0"/>
              </a:spcAft>
              <a:buSzPts val="2100"/>
              <a:buAutoNum type="arabicPeriod"/>
            </a:pPr>
            <a:r>
              <a:rPr lang="en-US" sz="2100"/>
              <a:t>Reviewed a two-order scenario with insufficient stock.</a:t>
            </a:r>
            <a:endParaRPr sz="2100"/>
          </a:p>
          <a:p>
            <a:pPr indent="-361950" lvl="0" marL="457200" rtl="0" algn="l">
              <a:spcBef>
                <a:spcPts val="0"/>
              </a:spcBef>
              <a:spcAft>
                <a:spcPts val="0"/>
              </a:spcAft>
              <a:buSzPts val="2100"/>
              <a:buAutoNum type="arabicPeriod"/>
            </a:pPr>
            <a:r>
              <a:rPr lang="en-US" sz="2100"/>
              <a:t>Compared cashier prototypes and supported the product grid.</a:t>
            </a:r>
            <a:endParaRPr sz="2100"/>
          </a:p>
          <a:p>
            <a:pPr indent="0" lvl="0" marL="457200" rtl="0" algn="l">
              <a:spcBef>
                <a:spcPts val="0"/>
              </a:spcBef>
              <a:spcAft>
                <a:spcPts val="0"/>
              </a:spcAft>
              <a:buNone/>
            </a:pPr>
            <a:r>
              <a:t/>
            </a:r>
            <a:endParaRPr sz="2100"/>
          </a:p>
        </p:txBody>
      </p:sp>
      <p:sp>
        <p:nvSpPr>
          <p:cNvPr id="165" name="Google Shape;165;p17"/>
          <p:cNvSpPr txBox="1"/>
          <p:nvPr/>
        </p:nvSpPr>
        <p:spPr>
          <a:xfrm>
            <a:off x="875975" y="5025350"/>
            <a:ext cx="29736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u="sng">
                <a:solidFill>
                  <a:schemeClr val="dk1"/>
                </a:solidFill>
                <a:hlinkClick r:id="rId3">
                  <a:extLst>
                    <a:ext uri="{A12FA001-AC4F-418D-AE19-62706E023703}">
                      <ahyp:hlinkClr val="tx"/>
                    </a:ext>
                  </a:extLst>
                </a:hlinkClick>
              </a:rPr>
              <a:t>PROTOTYPE REVIEW</a:t>
            </a:r>
            <a:endParaRPr sz="2000">
              <a:solidFill>
                <a:schemeClr val="dk1"/>
              </a:solidFill>
            </a:endParaRPr>
          </a:p>
        </p:txBody>
      </p:sp>
      <p:sp>
        <p:nvSpPr>
          <p:cNvPr id="166" name="Google Shape;166;p17"/>
          <p:cNvSpPr txBox="1"/>
          <p:nvPr/>
        </p:nvSpPr>
        <p:spPr>
          <a:xfrm>
            <a:off x="4737200" y="5082975"/>
            <a:ext cx="26049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u="sng">
                <a:solidFill>
                  <a:schemeClr val="dk1"/>
                </a:solidFill>
                <a:hlinkClick r:id="rId4">
                  <a:extLst>
                    <a:ext uri="{A12FA001-AC4F-418D-AE19-62706E023703}">
                      <ahyp:hlinkClr val="tx"/>
                    </a:ext>
                  </a:extLst>
                </a:hlinkClick>
              </a:rPr>
              <a:t>ISSUE </a:t>
            </a:r>
            <a:endParaRPr sz="2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171" name="Shape 171"/>
        <p:cNvGrpSpPr/>
        <p:nvPr/>
      </p:nvGrpSpPr>
      <p:grpSpPr>
        <a:xfrm>
          <a:off x="0" y="0"/>
          <a:ext cx="0" cy="0"/>
          <a:chOff x="0" y="0"/>
          <a:chExt cx="0" cy="0"/>
        </a:xfrm>
      </p:grpSpPr>
      <p:sp>
        <p:nvSpPr>
          <p:cNvPr id="172" name="Google Shape;172;p18"/>
          <p:cNvSpPr/>
          <p:nvPr/>
        </p:nvSpPr>
        <p:spPr>
          <a:xfrm>
            <a:off x="628650" y="457200"/>
            <a:ext cx="10953900" cy="89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650">
                <a:solidFill>
                  <a:srgbClr val="839263"/>
                </a:solidFill>
              </a:rPr>
              <a:t>Shuzita Majhi (@Shuzita) </a:t>
            </a:r>
            <a:endParaRPr sz="2300"/>
          </a:p>
        </p:txBody>
      </p:sp>
      <p:sp>
        <p:nvSpPr>
          <p:cNvPr id="173" name="Google Shape;173;p18"/>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174" name="Google Shape;174;p18"/>
          <p:cNvSpPr/>
          <p:nvPr/>
        </p:nvSpPr>
        <p:spPr>
          <a:xfrm>
            <a:off x="11251026"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11</a:t>
            </a:r>
            <a:endParaRPr/>
          </a:p>
        </p:txBody>
      </p:sp>
      <p:sp>
        <p:nvSpPr>
          <p:cNvPr id="175" name="Google Shape;175;p18"/>
          <p:cNvSpPr txBox="1"/>
          <p:nvPr/>
        </p:nvSpPr>
        <p:spPr>
          <a:xfrm>
            <a:off x="910550" y="1509925"/>
            <a:ext cx="9681900" cy="2282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US" sz="2000"/>
              <a:t>Created two cashier-screen prototypes.</a:t>
            </a:r>
            <a:endParaRPr sz="2000"/>
          </a:p>
          <a:p>
            <a:pPr indent="-355600" lvl="0" marL="457200" rtl="0" algn="l">
              <a:spcBef>
                <a:spcPts val="0"/>
              </a:spcBef>
              <a:spcAft>
                <a:spcPts val="0"/>
              </a:spcAft>
              <a:buSzPts val="2000"/>
              <a:buAutoNum type="arabicPeriod"/>
            </a:pPr>
            <a:r>
              <a:rPr lang="en-US" sz="2000"/>
              <a:t>Compared product-grid and searchable-list layouts.</a:t>
            </a:r>
            <a:endParaRPr sz="2000"/>
          </a:p>
          <a:p>
            <a:pPr indent="-355600" lvl="0" marL="457200" rtl="0" algn="l">
              <a:spcBef>
                <a:spcPts val="0"/>
              </a:spcBef>
              <a:spcAft>
                <a:spcPts val="0"/>
              </a:spcAft>
              <a:buSzPts val="2000"/>
              <a:buAutoNum type="arabicPeriod"/>
            </a:pPr>
            <a:r>
              <a:rPr lang="en-US" sz="2000"/>
              <a:t>Recommended the product grid for the café menu.</a:t>
            </a:r>
            <a:endParaRPr sz="2000"/>
          </a:p>
          <a:p>
            <a:pPr indent="0" lvl="0" marL="457200" rtl="0" algn="l">
              <a:spcBef>
                <a:spcPts val="0"/>
              </a:spcBef>
              <a:spcAft>
                <a:spcPts val="0"/>
              </a:spcAft>
              <a:buNone/>
            </a:pPr>
            <a:r>
              <a:t/>
            </a:r>
            <a:endParaRPr sz="2000"/>
          </a:p>
        </p:txBody>
      </p:sp>
      <p:sp>
        <p:nvSpPr>
          <p:cNvPr id="176" name="Google Shape;176;p18"/>
          <p:cNvSpPr txBox="1"/>
          <p:nvPr/>
        </p:nvSpPr>
        <p:spPr>
          <a:xfrm>
            <a:off x="818350" y="4725675"/>
            <a:ext cx="2667900" cy="59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u="sng">
                <a:solidFill>
                  <a:schemeClr val="dk1"/>
                </a:solidFill>
                <a:hlinkClick r:id="rId3">
                  <a:extLst>
                    <a:ext uri="{A12FA001-AC4F-418D-AE19-62706E023703}">
                      <ahyp:hlinkClr val="tx"/>
                    </a:ext>
                  </a:extLst>
                </a:hlinkClick>
              </a:rPr>
              <a:t>ISSUE</a:t>
            </a:r>
            <a:endParaRPr sz="2000">
              <a:solidFill>
                <a:schemeClr val="dk1"/>
              </a:solidFill>
            </a:endParaRPr>
          </a:p>
        </p:txBody>
      </p:sp>
      <p:sp>
        <p:nvSpPr>
          <p:cNvPr id="177" name="Google Shape;177;p18"/>
          <p:cNvSpPr txBox="1"/>
          <p:nvPr/>
        </p:nvSpPr>
        <p:spPr>
          <a:xfrm>
            <a:off x="3486150" y="4725675"/>
            <a:ext cx="3066000" cy="4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u="sng">
                <a:solidFill>
                  <a:schemeClr val="dk1"/>
                </a:solidFill>
                <a:hlinkClick r:id="rId4">
                  <a:extLst>
                    <a:ext uri="{A12FA001-AC4F-418D-AE19-62706E023703}">
                      <ahyp:hlinkClr val="tx"/>
                    </a:ext>
                  </a:extLst>
                </a:hlinkClick>
              </a:rPr>
              <a:t>CONTRIBUTION</a:t>
            </a: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39263"/>
        </a:solidFill>
      </p:bgPr>
    </p:bg>
    <p:spTree>
      <p:nvGrpSpPr>
        <p:cNvPr id="182" name="Shape 182"/>
        <p:cNvGrpSpPr/>
        <p:nvPr/>
      </p:nvGrpSpPr>
      <p:grpSpPr>
        <a:xfrm>
          <a:off x="0" y="0"/>
          <a:ext cx="0" cy="0"/>
          <a:chOff x="0" y="0"/>
          <a:chExt cx="0" cy="0"/>
        </a:xfrm>
      </p:grpSpPr>
      <p:sp>
        <p:nvSpPr>
          <p:cNvPr id="183" name="Google Shape;183;p19"/>
          <p:cNvSpPr/>
          <p:nvPr/>
        </p:nvSpPr>
        <p:spPr>
          <a:xfrm>
            <a:off x="619125" y="495300"/>
            <a:ext cx="10858500" cy="9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250">
                <a:solidFill>
                  <a:srgbClr val="FFFFFF"/>
                </a:solidFill>
              </a:rPr>
              <a:t>Sherap Hyolmo (@daydevil80) </a:t>
            </a:r>
            <a:endParaRPr sz="2300"/>
          </a:p>
        </p:txBody>
      </p:sp>
      <p:sp>
        <p:nvSpPr>
          <p:cNvPr id="184" name="Google Shape;184;p19"/>
          <p:cNvSpPr/>
          <p:nvPr/>
        </p:nvSpPr>
        <p:spPr>
          <a:xfrm>
            <a:off x="714375" y="2526825"/>
            <a:ext cx="10668000" cy="1476300"/>
          </a:xfrm>
          <a:prstGeom prst="rect">
            <a:avLst/>
          </a:prstGeom>
          <a:noFill/>
          <a:ln>
            <a:noFill/>
          </a:ln>
        </p:spPr>
        <p:txBody>
          <a:bodyPr anchorCtr="0" anchor="t" bIns="0" lIns="0" spcFirstLastPara="1" rIns="0" wrap="square" tIns="0">
            <a:noAutofit/>
          </a:bodyPr>
          <a:lstStyle/>
          <a:p>
            <a:pPr indent="-387350" lvl="0" marL="457200" rtl="0" algn="l">
              <a:spcBef>
                <a:spcPts val="0"/>
              </a:spcBef>
              <a:spcAft>
                <a:spcPts val="0"/>
              </a:spcAft>
              <a:buClr>
                <a:schemeClr val="lt1"/>
              </a:buClr>
              <a:buSzPts val="2500"/>
              <a:buAutoNum type="arabicPeriod"/>
            </a:pPr>
            <a:r>
              <a:rPr b="1" lang="en-US" sz="2500">
                <a:solidFill>
                  <a:schemeClr val="lt1"/>
                </a:solidFill>
              </a:rPr>
              <a:t>Added menu and ingredient editing.</a:t>
            </a:r>
            <a:endParaRPr b="1" sz="2500">
              <a:solidFill>
                <a:schemeClr val="lt1"/>
              </a:solidFill>
            </a:endParaRPr>
          </a:p>
          <a:p>
            <a:pPr indent="-387350" lvl="0" marL="457200" rtl="0" algn="l">
              <a:spcBef>
                <a:spcPts val="0"/>
              </a:spcBef>
              <a:spcAft>
                <a:spcPts val="0"/>
              </a:spcAft>
              <a:buClr>
                <a:schemeClr val="lt1"/>
              </a:buClr>
              <a:buSzPts val="2500"/>
              <a:buAutoNum type="arabicPeriod"/>
            </a:pPr>
            <a:r>
              <a:rPr b="1" lang="en-US" sz="2500">
                <a:solidFill>
                  <a:schemeClr val="lt1"/>
                </a:solidFill>
              </a:rPr>
              <a:t>Fixed stock calculation and receipt errors.</a:t>
            </a:r>
            <a:endParaRPr b="1" sz="2500">
              <a:solidFill>
                <a:schemeClr val="lt1"/>
              </a:solidFill>
            </a:endParaRPr>
          </a:p>
          <a:p>
            <a:pPr indent="-387350" lvl="0" marL="457200" rtl="0" algn="l">
              <a:spcBef>
                <a:spcPts val="0"/>
              </a:spcBef>
              <a:spcAft>
                <a:spcPts val="0"/>
              </a:spcAft>
              <a:buClr>
                <a:schemeClr val="lt1"/>
              </a:buClr>
              <a:buSzPts val="2500"/>
              <a:buAutoNum type="arabicPeriod"/>
            </a:pPr>
            <a:r>
              <a:rPr b="1" lang="en-US" sz="2500">
                <a:solidFill>
                  <a:schemeClr val="lt1"/>
                </a:solidFill>
              </a:rPr>
              <a:t>Tested the fixes and recorded the results.</a:t>
            </a:r>
            <a:endParaRPr b="1" sz="2500">
              <a:solidFill>
                <a:schemeClr val="lt1"/>
              </a:solidFill>
            </a:endParaRPr>
          </a:p>
          <a:p>
            <a:pPr indent="0" lvl="0" marL="457200" marR="0" rtl="0" algn="l">
              <a:spcBef>
                <a:spcPts val="0"/>
              </a:spcBef>
              <a:spcAft>
                <a:spcPts val="0"/>
              </a:spcAft>
              <a:buNone/>
            </a:pPr>
            <a:r>
              <a:t/>
            </a:r>
            <a:endParaRPr b="1" sz="2500">
              <a:solidFill>
                <a:schemeClr val="lt1"/>
              </a:solidFill>
            </a:endParaRPr>
          </a:p>
        </p:txBody>
      </p:sp>
      <p:sp>
        <p:nvSpPr>
          <p:cNvPr id="185" name="Google Shape;185;p19"/>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E1CBC3"/>
                </a:solidFill>
                <a:latin typeface="Arial"/>
                <a:ea typeface="Arial"/>
                <a:cs typeface="Arial"/>
                <a:sym typeface="Arial"/>
              </a:rPr>
              <a:t>SmartServe POS</a:t>
            </a:r>
            <a:endParaRPr/>
          </a:p>
        </p:txBody>
      </p:sp>
      <p:sp>
        <p:nvSpPr>
          <p:cNvPr id="186" name="Google Shape;186;p19"/>
          <p:cNvSpPr/>
          <p:nvPr/>
        </p:nvSpPr>
        <p:spPr>
          <a:xfrm>
            <a:off x="11239500"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E1CBC3"/>
                </a:solidFill>
                <a:latin typeface="Arial"/>
                <a:ea typeface="Arial"/>
                <a:cs typeface="Arial"/>
                <a:sym typeface="Arial"/>
              </a:rPr>
              <a:t>12</a:t>
            </a:r>
            <a:endParaRPr/>
          </a:p>
        </p:txBody>
      </p:sp>
      <p:sp>
        <p:nvSpPr>
          <p:cNvPr id="187" name="Google Shape;187;p19"/>
          <p:cNvSpPr txBox="1"/>
          <p:nvPr/>
        </p:nvSpPr>
        <p:spPr>
          <a:xfrm>
            <a:off x="704850" y="4779150"/>
            <a:ext cx="1946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u="sng">
                <a:solidFill>
                  <a:schemeClr val="lt1"/>
                </a:solidFill>
                <a:hlinkClick r:id="rId3">
                  <a:extLst>
                    <a:ext uri="{A12FA001-AC4F-418D-AE19-62706E023703}">
                      <ahyp:hlinkClr val="tx"/>
                    </a:ext>
                  </a:extLst>
                </a:hlinkClick>
              </a:rPr>
              <a:t>ISSUE</a:t>
            </a:r>
            <a:endParaRPr b="1" sz="2000">
              <a:solidFill>
                <a:schemeClr val="lt1"/>
              </a:solidFill>
            </a:endParaRPr>
          </a:p>
        </p:txBody>
      </p:sp>
      <p:sp>
        <p:nvSpPr>
          <p:cNvPr id="188" name="Google Shape;188;p19"/>
          <p:cNvSpPr txBox="1"/>
          <p:nvPr/>
        </p:nvSpPr>
        <p:spPr>
          <a:xfrm>
            <a:off x="3354075" y="4779150"/>
            <a:ext cx="2270700" cy="5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u="sng">
                <a:solidFill>
                  <a:schemeClr val="lt1"/>
                </a:solidFill>
                <a:hlinkClick r:id="rId4">
                  <a:extLst>
                    <a:ext uri="{A12FA001-AC4F-418D-AE19-62706E023703}">
                      <ahyp:hlinkClr val="tx"/>
                    </a:ext>
                  </a:extLst>
                </a:hlinkClick>
              </a:rPr>
              <a:t>CONTRIBUTION</a:t>
            </a:r>
            <a:endParaRPr sz="19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BE8"/>
        </a:solidFill>
      </p:bgPr>
    </p:bg>
    <p:spTree>
      <p:nvGrpSpPr>
        <p:cNvPr id="193" name="Shape 193"/>
        <p:cNvGrpSpPr/>
        <p:nvPr/>
      </p:nvGrpSpPr>
      <p:grpSpPr>
        <a:xfrm>
          <a:off x="0" y="0"/>
          <a:ext cx="0" cy="0"/>
          <a:chOff x="0" y="0"/>
          <a:chExt cx="0" cy="0"/>
        </a:xfrm>
      </p:grpSpPr>
      <p:sp>
        <p:nvSpPr>
          <p:cNvPr id="194" name="Google Shape;194;p20"/>
          <p:cNvSpPr/>
          <p:nvPr/>
        </p:nvSpPr>
        <p:spPr>
          <a:xfrm>
            <a:off x="628650" y="457200"/>
            <a:ext cx="10953900" cy="89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650">
                <a:solidFill>
                  <a:srgbClr val="839263"/>
                </a:solidFill>
              </a:rPr>
              <a:t>FUTURE OF SMART-SERVE</a:t>
            </a:r>
            <a:endParaRPr sz="2300"/>
          </a:p>
        </p:txBody>
      </p:sp>
      <p:sp>
        <p:nvSpPr>
          <p:cNvPr id="195" name="Google Shape;195;p20"/>
          <p:cNvSpPr/>
          <p:nvPr/>
        </p:nvSpPr>
        <p:spPr>
          <a:xfrm>
            <a:off x="604950" y="1728750"/>
            <a:ext cx="5095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BD6346"/>
                </a:solidFill>
                <a:latin typeface="Arial"/>
                <a:ea typeface="Arial"/>
                <a:cs typeface="Arial"/>
                <a:sym typeface="Arial"/>
              </a:rPr>
              <a:t>Real payment gateways</a:t>
            </a:r>
            <a:endParaRPr sz="1600"/>
          </a:p>
        </p:txBody>
      </p:sp>
      <p:sp>
        <p:nvSpPr>
          <p:cNvPr id="196" name="Google Shape;196;p20"/>
          <p:cNvSpPr/>
          <p:nvPr/>
        </p:nvSpPr>
        <p:spPr>
          <a:xfrm>
            <a:off x="604950" y="2128800"/>
            <a:ext cx="50958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53D32"/>
                </a:solidFill>
                <a:latin typeface="Arial"/>
                <a:ea typeface="Arial"/>
                <a:cs typeface="Arial"/>
                <a:sym typeface="Arial"/>
              </a:rPr>
              <a:t>Payments remain simulated.</a:t>
            </a:r>
            <a:endParaRPr/>
          </a:p>
        </p:txBody>
      </p:sp>
      <p:sp>
        <p:nvSpPr>
          <p:cNvPr id="197" name="Google Shape;197;p20"/>
          <p:cNvSpPr/>
          <p:nvPr/>
        </p:nvSpPr>
        <p:spPr>
          <a:xfrm>
            <a:off x="604950" y="2919375"/>
            <a:ext cx="5095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BD6346"/>
                </a:solidFill>
                <a:latin typeface="Arial"/>
                <a:ea typeface="Arial"/>
                <a:cs typeface="Arial"/>
                <a:sym typeface="Arial"/>
              </a:rPr>
              <a:t>Production deployment and hosting</a:t>
            </a:r>
            <a:endParaRPr sz="1600"/>
          </a:p>
        </p:txBody>
      </p:sp>
      <p:sp>
        <p:nvSpPr>
          <p:cNvPr id="198" name="Google Shape;198;p20"/>
          <p:cNvSpPr/>
          <p:nvPr/>
        </p:nvSpPr>
        <p:spPr>
          <a:xfrm>
            <a:off x="604950" y="3319425"/>
            <a:ext cx="50958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53D32"/>
                </a:solidFill>
                <a:latin typeface="Arial"/>
                <a:ea typeface="Arial"/>
                <a:cs typeface="Arial"/>
                <a:sym typeface="Arial"/>
              </a:rPr>
              <a:t>The MVP focuses on the project demo.</a:t>
            </a:r>
            <a:endParaRPr/>
          </a:p>
        </p:txBody>
      </p:sp>
      <p:sp>
        <p:nvSpPr>
          <p:cNvPr id="199" name="Google Shape;199;p20"/>
          <p:cNvSpPr/>
          <p:nvPr/>
        </p:nvSpPr>
        <p:spPr>
          <a:xfrm>
            <a:off x="604950" y="4110000"/>
            <a:ext cx="5095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BD6346"/>
                </a:solidFill>
                <a:latin typeface="Arial"/>
                <a:ea typeface="Arial"/>
                <a:cs typeface="Arial"/>
                <a:sym typeface="Arial"/>
              </a:rPr>
              <a:t>Enforced login and role access</a:t>
            </a:r>
            <a:endParaRPr sz="1600"/>
          </a:p>
        </p:txBody>
      </p:sp>
      <p:sp>
        <p:nvSpPr>
          <p:cNvPr id="200" name="Google Shape;200;p20"/>
          <p:cNvSpPr/>
          <p:nvPr/>
        </p:nvSpPr>
        <p:spPr>
          <a:xfrm>
            <a:off x="604950" y="4510050"/>
            <a:ext cx="50958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53D32"/>
                </a:solidFill>
                <a:latin typeface="Arial"/>
                <a:ea typeface="Arial"/>
                <a:cs typeface="Arial"/>
                <a:sym typeface="Arial"/>
              </a:rPr>
              <a:t>Full authentication and permissions are excluded.</a:t>
            </a:r>
            <a:endParaRPr/>
          </a:p>
        </p:txBody>
      </p:sp>
      <p:sp>
        <p:nvSpPr>
          <p:cNvPr id="201" name="Google Shape;201;p20"/>
          <p:cNvSpPr/>
          <p:nvPr/>
        </p:nvSpPr>
        <p:spPr>
          <a:xfrm>
            <a:off x="6510450" y="1728750"/>
            <a:ext cx="5095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BD6346"/>
                </a:solidFill>
                <a:latin typeface="Arial"/>
                <a:ea typeface="Arial"/>
                <a:cs typeface="Arial"/>
                <a:sym typeface="Arial"/>
              </a:rPr>
              <a:t>Supplier and purchase orders</a:t>
            </a:r>
            <a:endParaRPr sz="1600"/>
          </a:p>
        </p:txBody>
      </p:sp>
      <p:sp>
        <p:nvSpPr>
          <p:cNvPr id="202" name="Google Shape;202;p20"/>
          <p:cNvSpPr/>
          <p:nvPr/>
        </p:nvSpPr>
        <p:spPr>
          <a:xfrm>
            <a:off x="6510450" y="2128800"/>
            <a:ext cx="50958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53D32"/>
                </a:solidFill>
                <a:latin typeface="Arial"/>
                <a:ea typeface="Arial"/>
                <a:cs typeface="Arial"/>
                <a:sym typeface="Arial"/>
              </a:rPr>
              <a:t>Procurement workflows are excluded.</a:t>
            </a:r>
            <a:endParaRPr/>
          </a:p>
        </p:txBody>
      </p:sp>
      <p:sp>
        <p:nvSpPr>
          <p:cNvPr id="203" name="Google Shape;203;p20"/>
          <p:cNvSpPr/>
          <p:nvPr/>
        </p:nvSpPr>
        <p:spPr>
          <a:xfrm>
            <a:off x="6510450" y="2919375"/>
            <a:ext cx="5095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BD6346"/>
                </a:solidFill>
                <a:latin typeface="Arial"/>
                <a:ea typeface="Arial"/>
                <a:cs typeface="Arial"/>
                <a:sym typeface="Arial"/>
              </a:rPr>
              <a:t>Multiple café branches</a:t>
            </a:r>
            <a:endParaRPr sz="1600"/>
          </a:p>
        </p:txBody>
      </p:sp>
      <p:sp>
        <p:nvSpPr>
          <p:cNvPr id="204" name="Google Shape;204;p20"/>
          <p:cNvSpPr/>
          <p:nvPr/>
        </p:nvSpPr>
        <p:spPr>
          <a:xfrm>
            <a:off x="6510450" y="3319425"/>
            <a:ext cx="50958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53D32"/>
                </a:solidFill>
                <a:latin typeface="Arial"/>
                <a:ea typeface="Arial"/>
                <a:cs typeface="Arial"/>
                <a:sym typeface="Arial"/>
              </a:rPr>
              <a:t>The scope covers a single café.</a:t>
            </a:r>
            <a:endParaRPr/>
          </a:p>
        </p:txBody>
      </p:sp>
      <p:sp>
        <p:nvSpPr>
          <p:cNvPr id="205" name="Google Shape;205;p20"/>
          <p:cNvSpPr/>
          <p:nvPr/>
        </p:nvSpPr>
        <p:spPr>
          <a:xfrm>
            <a:off x="6510450" y="4110000"/>
            <a:ext cx="5095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rgbClr val="BD6346"/>
                </a:solidFill>
                <a:latin typeface="Arial"/>
                <a:ea typeface="Arial"/>
                <a:cs typeface="Arial"/>
                <a:sym typeface="Arial"/>
              </a:rPr>
              <a:t>Advanced accounting</a:t>
            </a:r>
            <a:endParaRPr sz="1600"/>
          </a:p>
        </p:txBody>
      </p:sp>
      <p:sp>
        <p:nvSpPr>
          <p:cNvPr id="206" name="Google Shape;206;p20"/>
          <p:cNvSpPr/>
          <p:nvPr/>
        </p:nvSpPr>
        <p:spPr>
          <a:xfrm>
            <a:off x="6510450" y="4510050"/>
            <a:ext cx="5095800" cy="619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553D32"/>
                </a:solidFill>
                <a:latin typeface="Arial"/>
                <a:ea typeface="Arial"/>
                <a:cs typeface="Arial"/>
                <a:sym typeface="Arial"/>
              </a:rPr>
              <a:t>Detailed financial reporting is excluded.</a:t>
            </a:r>
            <a:endParaRPr/>
          </a:p>
        </p:txBody>
      </p:sp>
      <p:sp>
        <p:nvSpPr>
          <p:cNvPr id="207" name="Google Shape;207;p20"/>
          <p:cNvSpPr/>
          <p:nvPr/>
        </p:nvSpPr>
        <p:spPr>
          <a:xfrm>
            <a:off x="628650" y="6486525"/>
            <a:ext cx="28575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SmartServe POS</a:t>
            </a:r>
            <a:endParaRPr/>
          </a:p>
        </p:txBody>
      </p:sp>
      <p:sp>
        <p:nvSpPr>
          <p:cNvPr id="208" name="Google Shape;208;p20"/>
          <p:cNvSpPr/>
          <p:nvPr/>
        </p:nvSpPr>
        <p:spPr>
          <a:xfrm>
            <a:off x="11251026" y="6486525"/>
            <a:ext cx="4287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00">
                <a:solidFill>
                  <a:srgbClr val="BD6346"/>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1"/>
          <p:cNvPicPr preferRelativeResize="0"/>
          <p:nvPr/>
        </p:nvPicPr>
        <p:blipFill>
          <a:blip r:embed="rId3">
            <a:alphaModFix/>
          </a:blip>
          <a:stretch>
            <a:fillRect/>
          </a:stretch>
        </p:blipFill>
        <p:spPr>
          <a:xfrm>
            <a:off x="2284725" y="83225"/>
            <a:ext cx="6660984" cy="6553201"/>
          </a:xfrm>
          <a:prstGeom prst="rect">
            <a:avLst/>
          </a:prstGeom>
          <a:noFill/>
          <a:ln>
            <a:noFill/>
          </a:ln>
        </p:spPr>
      </p:pic>
      <p:sp>
        <p:nvSpPr>
          <p:cNvPr id="215" name="Google Shape;215;p21"/>
          <p:cNvSpPr txBox="1"/>
          <p:nvPr/>
        </p:nvSpPr>
        <p:spPr>
          <a:xfrm>
            <a:off x="184425" y="1187175"/>
            <a:ext cx="1878900" cy="10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USERNAME:-</a:t>
            </a:r>
            <a:br>
              <a:rPr b="1" lang="en-US" sz="2000"/>
            </a:br>
            <a:r>
              <a:rPr b="1" lang="en-US" sz="2000"/>
              <a:t>Admin</a:t>
            </a:r>
            <a:br>
              <a:rPr b="1" lang="en-US" sz="2000"/>
            </a:br>
            <a:endParaRPr b="1" sz="2000"/>
          </a:p>
          <a:p>
            <a:pPr indent="0" lvl="0" marL="0" rtl="0" algn="l">
              <a:spcBef>
                <a:spcPts val="0"/>
              </a:spcBef>
              <a:spcAft>
                <a:spcPts val="0"/>
              </a:spcAft>
              <a:buNone/>
            </a:pPr>
            <a:r>
              <a:rPr b="1" lang="en-US" sz="2000"/>
              <a:t>PASSWORD:-</a:t>
            </a:r>
            <a:br>
              <a:rPr b="1" lang="en-US" sz="2000"/>
            </a:br>
            <a:r>
              <a:rPr b="1" lang="en-US" sz="2000"/>
              <a:t>1234$</a:t>
            </a:r>
            <a:endParaRPr b="1" sz="2000"/>
          </a:p>
          <a:p>
            <a:pPr indent="0" lvl="0" marL="0" rtl="0" algn="l">
              <a:spcBef>
                <a:spcPts val="0"/>
              </a:spcBef>
              <a:spcAft>
                <a:spcPts val="0"/>
              </a:spcAft>
              <a:buNone/>
            </a:pPr>
            <a:r>
              <a:t/>
            </a:r>
            <a:endParaRPr b="1"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6346"/>
        </a:solidFill>
      </p:bgPr>
    </p:bg>
    <p:spTree>
      <p:nvGrpSpPr>
        <p:cNvPr id="220" name="Shape 220"/>
        <p:cNvGrpSpPr/>
        <p:nvPr/>
      </p:nvGrpSpPr>
      <p:grpSpPr>
        <a:xfrm>
          <a:off x="0" y="0"/>
          <a:ext cx="0" cy="0"/>
          <a:chOff x="0" y="0"/>
          <a:chExt cx="0" cy="0"/>
        </a:xfrm>
      </p:grpSpPr>
      <p:sp>
        <p:nvSpPr>
          <p:cNvPr id="221" name="Google Shape;221;p22"/>
          <p:cNvSpPr/>
          <p:nvPr/>
        </p:nvSpPr>
        <p:spPr>
          <a:xfrm>
            <a:off x="306375" y="1477350"/>
            <a:ext cx="11049000" cy="10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7875">
                <a:solidFill>
                  <a:srgbClr val="C87356"/>
                </a:solidFill>
              </a:rPr>
              <a:t>THANK YOU</a:t>
            </a:r>
            <a:endParaRPr/>
          </a:p>
        </p:txBody>
      </p:sp>
      <p:sp>
        <p:nvSpPr>
          <p:cNvPr id="222" name="Google Shape;222;p22"/>
          <p:cNvSpPr/>
          <p:nvPr/>
        </p:nvSpPr>
        <p:spPr>
          <a:xfrm>
            <a:off x="410125" y="3297825"/>
            <a:ext cx="11049000" cy="10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7875">
                <a:solidFill>
                  <a:srgbClr val="C87356"/>
                </a:solidFill>
              </a:rPr>
              <a:t>THANK YOU</a:t>
            </a:r>
            <a:endParaRPr/>
          </a:p>
        </p:txBody>
      </p:sp>
      <p:sp>
        <p:nvSpPr>
          <p:cNvPr id="223" name="Google Shape;223;p22"/>
          <p:cNvSpPr/>
          <p:nvPr/>
        </p:nvSpPr>
        <p:spPr>
          <a:xfrm>
            <a:off x="410125" y="2494175"/>
            <a:ext cx="11049000" cy="113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6750">
                <a:solidFill>
                  <a:srgbClr val="FFFFFF"/>
                </a:solidFill>
              </a:rPr>
              <a:t>THANK YOU</a:t>
            </a:r>
            <a:endParaRPr/>
          </a:p>
        </p:txBody>
      </p:sp>
      <p:pic>
        <p:nvPicPr>
          <p:cNvPr id="224" name="Google Shape;224;p22"/>
          <p:cNvPicPr preferRelativeResize="0"/>
          <p:nvPr/>
        </p:nvPicPr>
        <p:blipFill>
          <a:blip r:embed="rId3">
            <a:alphaModFix/>
          </a:blip>
          <a:stretch>
            <a:fillRect/>
          </a:stretch>
        </p:blipFill>
        <p:spPr>
          <a:xfrm>
            <a:off x="7169200" y="576275"/>
            <a:ext cx="4425999" cy="55209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